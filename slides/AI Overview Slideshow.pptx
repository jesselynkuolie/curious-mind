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g Shoulders ExtraBold"/>
      <p:regular r:id="rId201314"/>
    </p:embeddedFont>
    <p:embeddedFont>
      <p:font typeface="Onest"/>
      <p:regular r:id="rId201315"/>
    </p:embeddedFont>
    <p:embeddedFont>
      <p:font typeface="Onest SemiBold"/>
      <p:regular r:id="rId201316"/>
    </p:embeddedFont>
    <p:embeddedFont>
      <p:font typeface="Ones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is a useful shorthand, not a claim that machines think like people. This overview explains how modern AI learns patterns, produces outputs, and changes what people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title describes today's learning-based AI. Historically, AI also includes systems built from hand-written rules. A spam filter illustrates the distinction: rather than specifying every suspicious phrase, a learning system finds patterns in examples. Prediction does not imply consciousness.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the model's adjustable numbers, often called weights. Gradient descent uses information about how error changes to update them. Repetition alone does not guarantee accuracy: held-out evaluation helps detect overfitting, where a model learns the training examples too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Next-token prediction explains language generation, but it is not the mechanism for every generative model. Diffusion is a different approach. Both learn patterns from training data; neither mechanism guarantees that an output is 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applications, not promises of equal reliability. In healthcare, models can assist specialists rather than replace clinical judgment. Scientific modeling can accelerate exploration while still requiring experiments. In education, adaptive systems can tailor practice, but the quality of feedback matters. Inference is the term for using a trained model to produce an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hallucination is a plausible-looking but unsupported or false output. Benefits and risks depend on the application, the data, and the safeguards. Ask who benefits, who bears the cost of errors, and whether someone can challenge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task where you can recognize a good answer. Compare the result with a trusted reference, and keep sensitive information out of unapproved tools. Human oversight means retaining responsibility for consequential decisions, even when AI helps with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613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6131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613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31F">
              <a:alpha val="6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67884" y="1966020"/>
            <a:ext cx="5933927" cy="2171700"/>
          </a:xfrm>
          <a:prstGeom prst="rect">
            <a:avLst/>
          </a:prstGeom>
          <a:noFill/>
          <a:ln/>
        </p:spPr>
        <p:txBody>
          <a:bodyPr wrap="square" lIns="0" tIns="0" rIns="0" bIns="0" rtlCol="0" anchor="t">
            <a:normAutofit/>
          </a:bodyPr>
          <a:lstStyle/>
          <a:p>
            <a:pPr algn="l" indent="0" marL="0">
              <a:lnSpc>
                <a:spcPct val="79000"/>
              </a:lnSpc>
              <a:buNone/>
            </a:pPr>
            <a:r>
              <a:rPr lang="en-US" sz="6000" dirty="0">
                <a:solidFill>
                  <a:srgbClr val="FFFFFF"/>
                </a:solidFill>
                <a:latin typeface="Big Shoulders ExtraBold" pitchFamily="34" charset="0"/>
                <a:ea typeface="Big Shoulders ExtraBold" pitchFamily="34" charset="-122"/>
                <a:cs typeface="Big Shoulders ExtraBold" pitchFamily="34" charset="0"/>
              </a:rPr>
              <a:t>AI OVERVIEW: HOW MACHINES LEARN TO THINK</a:t>
            </a:r>
            <a:endParaRPr lang="en-US" sz="6000" dirty="0"/>
          </a:p>
        </p:txBody>
      </p:sp>
      <p:sp>
        <p:nvSpPr>
          <p:cNvPr id="3" name="Text 1"/>
          <p:cNvSpPr/>
          <p:nvPr/>
        </p:nvSpPr>
        <p:spPr>
          <a:xfrm>
            <a:off x="267884" y="4271070"/>
            <a:ext cx="6543511" cy="377130"/>
          </a:xfrm>
          <a:prstGeom prst="rect">
            <a:avLst/>
          </a:prstGeom>
          <a:noFill/>
          <a:ln/>
        </p:spPr>
        <p:txBody>
          <a:bodyPr wrap="none" lIns="0" tIns="0" rIns="0" bIns="0" rtlCol="0" anchor="t"/>
          <a:lstStyle/>
          <a:p>
            <a:pPr algn="l" indent="0" marL="0">
              <a:lnSpc>
                <a:spcPct val="113000"/>
              </a:lnSpc>
              <a:buNone/>
            </a:pPr>
            <a:r>
              <a:rPr lang="en-US" sz="2200" dirty="0">
                <a:solidFill>
                  <a:srgbClr val="F4EEF8"/>
                </a:solidFill>
                <a:latin typeface="Onest" pitchFamily="34" charset="0"/>
                <a:ea typeface="Onest" pitchFamily="34" charset="-122"/>
                <a:cs typeface="Onest" pitchFamily="34" charset="0"/>
              </a:rPr>
              <a:t>Patterns, predictions, possibilities, and limits.</a:t>
            </a:r>
            <a:endParaRPr lang="en-US" sz="2200" dirty="0"/>
          </a:p>
        </p:txBody>
      </p:sp>
      <p:sp>
        <p:nvSpPr>
          <p:cNvPr id="4" name="Text 2"/>
          <p:cNvSpPr/>
          <p:nvPr/>
        </p:nvSpPr>
        <p:spPr>
          <a:xfrm>
            <a:off x="381487" y="1388666"/>
            <a:ext cx="3554820" cy="377130"/>
          </a:xfrm>
          <a:prstGeom prst="rect">
            <a:avLst/>
          </a:prstGeom>
          <a:noFill/>
          <a:ln/>
        </p:spPr>
        <p:txBody>
          <a:bodyPr wrap="none" lIns="0" tIns="0" rIns="0" bIns="0" rtlCol="0" anchor="t"/>
          <a:lstStyle/>
          <a:p>
            <a:pPr algn="l" indent="0" marL="0">
              <a:lnSpc>
                <a:spcPct val="113000"/>
              </a:lnSpc>
              <a:buNone/>
            </a:pPr>
            <a:r>
              <a:rPr lang="en-US" sz="2200" dirty="0">
                <a:solidFill>
                  <a:srgbClr val="F4EEF8"/>
                </a:solidFill>
                <a:latin typeface="Onest" pitchFamily="34" charset="0"/>
                <a:ea typeface="Onest" pitchFamily="34" charset="-122"/>
                <a:cs typeface="Onest" pitchFamily="34" charset="0"/>
              </a:rPr>
              <a:t>Group: Curious Mind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2300"/>
            <a:ext cx="6349841" cy="1447800"/>
          </a:xfrm>
          <a:prstGeom prst="rect">
            <a:avLst/>
          </a:prstGeom>
          <a:noFill/>
          <a:ln/>
        </p:spPr>
        <p:txBody>
          <a:bodyPr wrap="square" lIns="0" tIns="0" rIns="0" bIns="0" rtlCol="0" anchor="t">
            <a:normAutofit/>
          </a:bodyPr>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SOFTWARE THAT LEARNS PATTERNS INSTEAD OF FOLLOWING FIXED RULES</a:t>
            </a:r>
            <a:endParaRPr lang="en-US" sz="4000" dirty="0"/>
          </a:p>
        </p:txBody>
      </p:sp>
      <p:sp>
        <p:nvSpPr>
          <p:cNvPr id="3" name="Text 1"/>
          <p:cNvSpPr/>
          <p:nvPr/>
        </p:nvSpPr>
        <p:spPr>
          <a:xfrm>
            <a:off x="609585" y="3329403"/>
            <a:ext cx="6349841" cy="337741"/>
          </a:xfrm>
          <a:prstGeom prst="rect">
            <a:avLst/>
          </a:prstGeom>
          <a:noFill/>
          <a:ln/>
        </p:spPr>
        <p:txBody>
          <a:bodyPr wrap="none" lIns="0" tIns="0" rIns="0" bIns="0" rtlCol="0" anchor="t"/>
          <a:lstStyle/>
          <a:p>
            <a:pPr algn="l" indent="0" marL="0">
              <a:lnSpc>
                <a:spcPct val="79000"/>
              </a:lnSpc>
              <a:buNone/>
            </a:pPr>
            <a:r>
              <a:rPr lang="en-US" sz="2800" dirty="0">
                <a:solidFill>
                  <a:srgbClr val="58E6B0"/>
                </a:solidFill>
                <a:latin typeface="Big Shoulders ExtraBold" pitchFamily="34" charset="0"/>
                <a:ea typeface="Big Shoulders ExtraBold" pitchFamily="34" charset="-122"/>
                <a:cs typeface="Big Shoulders ExtraBold" pitchFamily="34" charset="0"/>
              </a:rPr>
              <a:t>PREDICTION FROM DATA</a:t>
            </a:r>
            <a:endParaRPr lang="en-US" sz="2800" dirty="0"/>
          </a:p>
        </p:txBody>
      </p:sp>
      <p:sp>
        <p:nvSpPr>
          <p:cNvPr id="4" name="Text 2"/>
          <p:cNvSpPr/>
          <p:nvPr/>
        </p:nvSpPr>
        <p:spPr>
          <a:xfrm>
            <a:off x="609585" y="3787180"/>
            <a:ext cx="6349841"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Modern AI uses examples to recognize patterns and make predictions on new inputs.</a:t>
            </a:r>
            <a:endParaRPr lang="en-US" sz="1800" dirty="0"/>
          </a:p>
        </p:txBody>
      </p:sp>
      <p:sp>
        <p:nvSpPr>
          <p:cNvPr id="5" name="Text 3"/>
          <p:cNvSpPr/>
          <p:nvPr/>
        </p:nvSpPr>
        <p:spPr>
          <a:xfrm>
            <a:off x="609585" y="5682059"/>
            <a:ext cx="6349841"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Today's </a:t>
            </a:r>
            <a:pPr algn="l" indent="0" marL="0">
              <a:lnSpc>
                <a:spcPct val="113000"/>
              </a:lnSpc>
              <a:buNone/>
            </a:pPr>
            <a:r>
              <a:rPr lang="en-US" sz="1800" b="1" dirty="0">
                <a:solidFill>
                  <a:srgbClr val="F4EEF8"/>
                </a:solidFill>
                <a:latin typeface="Onest Bold" pitchFamily="34" charset="0"/>
                <a:ea typeface="Onest Bold" pitchFamily="34" charset="-122"/>
                <a:cs typeface="Onest Bold" pitchFamily="34" charset="0"/>
              </a:rPr>
              <a:t>narrow AI</a:t>
            </a:r>
            <a:pPr algn="l" indent="0" marL="0">
              <a:lnSpc>
                <a:spcPct val="113000"/>
              </a:lnSpc>
              <a:buNone/>
            </a:pPr>
            <a:r>
              <a:rPr lang="en-US" sz="1800" dirty="0">
                <a:solidFill>
                  <a:srgbClr val="F4EEF8"/>
                </a:solidFill>
                <a:latin typeface="Onest" pitchFamily="34" charset="0"/>
                <a:ea typeface="Onest" pitchFamily="34" charset="-122"/>
                <a:cs typeface="Onest" pitchFamily="34" charset="0"/>
              </a:rPr>
              <a:t> handles particular tasks. General AI, with broad human-like capability, remains an open goal.</a:t>
            </a:r>
            <a:endParaRPr lang="en-US" sz="1800" dirty="0"/>
          </a:p>
        </p:txBody>
      </p:sp>
      <p:pic>
        <p:nvPicPr>
          <p:cNvPr id="6" name="Image 0" descr="preencoded.png">    </p:cNvPr>
          <p:cNvPicPr>
            <a:picLocks noChangeAspect="1"/>
          </p:cNvPicPr>
          <p:nvPr/>
        </p:nvPicPr>
        <p:blipFill>
          <a:blip r:embed="rId1"/>
          <a:stretch>
            <a:fillRect/>
          </a:stretch>
        </p:blipFill>
        <p:spPr>
          <a:xfrm>
            <a:off x="7467413" y="609600"/>
            <a:ext cx="4165496" cy="5638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2300"/>
            <a:ext cx="10972526"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ADVANCED IN WAVES SINCE THE 1950S</a:t>
            </a:r>
            <a:endParaRPr lang="en-US" sz="4000" dirty="0"/>
          </a:p>
        </p:txBody>
      </p:sp>
      <p:sp>
        <p:nvSpPr>
          <p:cNvPr id="3" name="Shape 1"/>
          <p:cNvSpPr/>
          <p:nvPr/>
        </p:nvSpPr>
        <p:spPr>
          <a:xfrm>
            <a:off x="609585" y="1592263"/>
            <a:ext cx="10972526" cy="4632722"/>
          </a:xfrm>
          <a:prstGeom prst="roundRect">
            <a:avLst>
              <a:gd name="adj" fmla="val 5263"/>
            </a:avLst>
          </a:prstGeom>
          <a:solidFill>
            <a:srgbClr val="0C2637"/>
          </a:solidFill>
          <a:ln/>
        </p:spPr>
      </p:sp>
      <p:sp>
        <p:nvSpPr>
          <p:cNvPr id="4" name="Shape 2"/>
          <p:cNvSpPr/>
          <p:nvPr/>
        </p:nvSpPr>
        <p:spPr>
          <a:xfrm>
            <a:off x="939776" y="3908623"/>
            <a:ext cx="10312142" cy="28575"/>
          </a:xfrm>
          <a:prstGeom prst="roundRect">
            <a:avLst>
              <a:gd name="adj" fmla="val 49999"/>
            </a:avLst>
          </a:prstGeom>
          <a:solidFill>
            <a:srgbClr val="1EC290"/>
          </a:solidFill>
          <a:ln/>
        </p:spPr>
      </p:sp>
      <p:sp>
        <p:nvSpPr>
          <p:cNvPr id="5" name="Shape 3"/>
          <p:cNvSpPr/>
          <p:nvPr/>
        </p:nvSpPr>
        <p:spPr>
          <a:xfrm>
            <a:off x="2902175" y="3222823"/>
            <a:ext cx="28574" cy="685800"/>
          </a:xfrm>
          <a:prstGeom prst="roundRect">
            <a:avLst>
              <a:gd name="adj" fmla="val 50000"/>
            </a:avLst>
          </a:prstGeom>
          <a:solidFill>
            <a:srgbClr val="1EC290"/>
          </a:solidFill>
          <a:ln/>
        </p:spPr>
      </p:sp>
      <p:sp>
        <p:nvSpPr>
          <p:cNvPr id="6" name="Shape 4"/>
          <p:cNvSpPr/>
          <p:nvPr/>
        </p:nvSpPr>
        <p:spPr>
          <a:xfrm>
            <a:off x="2659294" y="3651448"/>
            <a:ext cx="514337" cy="514350"/>
          </a:xfrm>
          <a:prstGeom prst="roundRect">
            <a:avLst>
              <a:gd name="adj" fmla="val 40000"/>
            </a:avLst>
          </a:prstGeom>
          <a:solidFill>
            <a:srgbClr val="38DCAA"/>
          </a:solidFill>
          <a:ln w="25399">
            <a:solidFill>
              <a:srgbClr val="1EC290"/>
            </a:solidFill>
            <a:prstDash val="solid"/>
          </a:ln>
        </p:spPr>
      </p:sp>
      <p:sp>
        <p:nvSpPr>
          <p:cNvPr id="7" name="Text 5"/>
          <p:cNvSpPr/>
          <p:nvPr/>
        </p:nvSpPr>
        <p:spPr>
          <a:xfrm>
            <a:off x="2745016" y="3745756"/>
            <a:ext cx="342891" cy="325735"/>
          </a:xfrm>
          <a:prstGeom prst="rect">
            <a:avLst/>
          </a:prstGeom>
          <a:noFill/>
          <a:ln/>
        </p:spPr>
        <p:txBody>
          <a:bodyPr wrap="none" lIns="0" tIns="0" rIns="0" bIns="0" rtlCol="0" anchor="ctr"/>
          <a:lstStyle/>
          <a:p>
            <a:pPr algn="ctr" indent="0" marL="0">
              <a:lnSpc>
                <a:spcPct val="100000"/>
              </a:lnSpc>
              <a:buNone/>
            </a:pPr>
            <a:r>
              <a:rPr lang="en-US" sz="2700" dirty="0">
                <a:solidFill>
                  <a:srgbClr val="000000"/>
                </a:solidFill>
                <a:latin typeface="Big Shoulders ExtraBold" pitchFamily="34" charset="0"/>
                <a:ea typeface="Big Shoulders ExtraBold" pitchFamily="34" charset="-122"/>
                <a:cs typeface="Big Shoulders ExtraBold" pitchFamily="34" charset="0"/>
              </a:rPr>
              <a:t>1</a:t>
            </a:r>
            <a:endParaRPr lang="en-US" sz="2700" dirty="0"/>
          </a:p>
        </p:txBody>
      </p:sp>
      <p:sp>
        <p:nvSpPr>
          <p:cNvPr id="8" name="Text 6"/>
          <p:cNvSpPr/>
          <p:nvPr/>
        </p:nvSpPr>
        <p:spPr>
          <a:xfrm>
            <a:off x="1168371" y="1998663"/>
            <a:ext cx="3496183" cy="241300"/>
          </a:xfrm>
          <a:prstGeom prst="rect">
            <a:avLst/>
          </a:prstGeom>
          <a:noFill/>
          <a:ln/>
        </p:spPr>
        <p:txBody>
          <a:bodyPr wrap="none" lIns="0" tIns="0" rIns="0" bIns="0" rtlCol="0" anchor="t"/>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1956</a:t>
            </a:r>
            <a:endParaRPr lang="en-US" sz="2000" dirty="0"/>
          </a:p>
        </p:txBody>
      </p:sp>
      <p:sp>
        <p:nvSpPr>
          <p:cNvPr id="9" name="Text 7"/>
          <p:cNvSpPr/>
          <p:nvPr/>
        </p:nvSpPr>
        <p:spPr>
          <a:xfrm>
            <a:off x="1168371" y="2377083"/>
            <a:ext cx="3496183" cy="617141"/>
          </a:xfrm>
          <a:prstGeom prst="rect">
            <a:avLst/>
          </a:prstGeom>
          <a:noFill/>
          <a:ln/>
        </p:spPr>
        <p:txBody>
          <a:bodyPr wrap="square" lIns="0" tIns="0" rIns="0" bIns="0" rtlCol="0" anchor="t">
            <a:normAutofit/>
          </a:bodyPr>
          <a:lstStyle/>
          <a:p>
            <a:pPr algn="ctr" indent="0" marL="0">
              <a:lnSpc>
                <a:spcPct val="113000"/>
              </a:lnSpc>
              <a:buNone/>
            </a:pPr>
            <a:r>
              <a:rPr lang="en-US" sz="1800" dirty="0">
                <a:solidFill>
                  <a:srgbClr val="FFFFFF"/>
                </a:solidFill>
                <a:latin typeface="Onest" pitchFamily="34" charset="0"/>
                <a:ea typeface="Onest" pitchFamily="34" charset="-122"/>
                <a:cs typeface="Onest" pitchFamily="34" charset="0"/>
              </a:rPr>
              <a:t>Dartmouth workshop helps establish AI as a field.</a:t>
            </a:r>
            <a:endParaRPr lang="en-US" sz="1800" dirty="0"/>
          </a:p>
        </p:txBody>
      </p:sp>
      <p:sp>
        <p:nvSpPr>
          <p:cNvPr id="10" name="Shape 8"/>
          <p:cNvSpPr/>
          <p:nvPr/>
        </p:nvSpPr>
        <p:spPr>
          <a:xfrm>
            <a:off x="5021732" y="3908623"/>
            <a:ext cx="28574" cy="685800"/>
          </a:xfrm>
          <a:prstGeom prst="roundRect">
            <a:avLst>
              <a:gd name="adj" fmla="val 50000"/>
            </a:avLst>
          </a:prstGeom>
          <a:solidFill>
            <a:srgbClr val="1EC290"/>
          </a:solidFill>
          <a:ln/>
        </p:spPr>
      </p:sp>
      <p:sp>
        <p:nvSpPr>
          <p:cNvPr id="11" name="Shape 9"/>
          <p:cNvSpPr/>
          <p:nvPr/>
        </p:nvSpPr>
        <p:spPr>
          <a:xfrm>
            <a:off x="4778851" y="3651448"/>
            <a:ext cx="514337" cy="514350"/>
          </a:xfrm>
          <a:prstGeom prst="roundRect">
            <a:avLst>
              <a:gd name="adj" fmla="val 40000"/>
            </a:avLst>
          </a:prstGeom>
          <a:solidFill>
            <a:srgbClr val="38DCAA"/>
          </a:solidFill>
          <a:ln w="25399">
            <a:solidFill>
              <a:srgbClr val="1EC290"/>
            </a:solidFill>
            <a:prstDash val="solid"/>
          </a:ln>
        </p:spPr>
      </p:sp>
      <p:sp>
        <p:nvSpPr>
          <p:cNvPr id="12" name="Text 10"/>
          <p:cNvSpPr/>
          <p:nvPr/>
        </p:nvSpPr>
        <p:spPr>
          <a:xfrm>
            <a:off x="4864574" y="3745756"/>
            <a:ext cx="342891" cy="325735"/>
          </a:xfrm>
          <a:prstGeom prst="rect">
            <a:avLst/>
          </a:prstGeom>
          <a:noFill/>
          <a:ln/>
        </p:spPr>
        <p:txBody>
          <a:bodyPr wrap="none" lIns="0" tIns="0" rIns="0" bIns="0" rtlCol="0" anchor="ctr"/>
          <a:lstStyle/>
          <a:p>
            <a:pPr algn="ctr" indent="0" marL="0">
              <a:lnSpc>
                <a:spcPct val="100000"/>
              </a:lnSpc>
              <a:buNone/>
            </a:pPr>
            <a:r>
              <a:rPr lang="en-US" sz="2700" dirty="0">
                <a:solidFill>
                  <a:srgbClr val="000000"/>
                </a:solidFill>
                <a:latin typeface="Big Shoulders ExtraBold" pitchFamily="34" charset="0"/>
                <a:ea typeface="Big Shoulders ExtraBold" pitchFamily="34" charset="-122"/>
                <a:cs typeface="Big Shoulders ExtraBold" pitchFamily="34" charset="0"/>
              </a:rPr>
              <a:t>2</a:t>
            </a:r>
            <a:endParaRPr lang="en-US" sz="2700" dirty="0"/>
          </a:p>
        </p:txBody>
      </p:sp>
      <p:sp>
        <p:nvSpPr>
          <p:cNvPr id="13" name="Text 11"/>
          <p:cNvSpPr/>
          <p:nvPr/>
        </p:nvSpPr>
        <p:spPr>
          <a:xfrm>
            <a:off x="3287928" y="4823023"/>
            <a:ext cx="3496183" cy="241300"/>
          </a:xfrm>
          <a:prstGeom prst="rect">
            <a:avLst/>
          </a:prstGeom>
          <a:noFill/>
          <a:ln/>
        </p:spPr>
        <p:txBody>
          <a:bodyPr wrap="none" lIns="0" tIns="0" rIns="0" bIns="0" rtlCol="0" anchor="t"/>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SYMBOLIC AI</a:t>
            </a:r>
            <a:endParaRPr lang="en-US" sz="2000" dirty="0"/>
          </a:p>
        </p:txBody>
      </p:sp>
      <p:sp>
        <p:nvSpPr>
          <p:cNvPr id="14" name="Text 12"/>
          <p:cNvSpPr/>
          <p:nvPr/>
        </p:nvSpPr>
        <p:spPr>
          <a:xfrm>
            <a:off x="3287928" y="5201444"/>
            <a:ext cx="3496183" cy="617141"/>
          </a:xfrm>
          <a:prstGeom prst="rect">
            <a:avLst/>
          </a:prstGeom>
          <a:noFill/>
          <a:ln/>
        </p:spPr>
        <p:txBody>
          <a:bodyPr wrap="square" lIns="0" tIns="0" rIns="0" bIns="0" rtlCol="0" anchor="t">
            <a:normAutofit/>
          </a:bodyPr>
          <a:lstStyle/>
          <a:p>
            <a:pPr algn="ctr" indent="0" marL="0">
              <a:lnSpc>
                <a:spcPct val="113000"/>
              </a:lnSpc>
              <a:buNone/>
            </a:pPr>
            <a:r>
              <a:rPr lang="en-US" sz="1800" dirty="0">
                <a:solidFill>
                  <a:srgbClr val="FFFFFF"/>
                </a:solidFill>
                <a:latin typeface="Onest" pitchFamily="34" charset="0"/>
                <a:ea typeface="Onest" pitchFamily="34" charset="-122"/>
                <a:cs typeface="Onest" pitchFamily="34" charset="0"/>
              </a:rPr>
              <a:t>Hand-written rules promise machine reasoning.</a:t>
            </a:r>
            <a:endParaRPr lang="en-US" sz="1800" dirty="0"/>
          </a:p>
        </p:txBody>
      </p:sp>
      <p:sp>
        <p:nvSpPr>
          <p:cNvPr id="15" name="Shape 13"/>
          <p:cNvSpPr/>
          <p:nvPr/>
        </p:nvSpPr>
        <p:spPr>
          <a:xfrm>
            <a:off x="7141289" y="3222823"/>
            <a:ext cx="28574" cy="685800"/>
          </a:xfrm>
          <a:prstGeom prst="roundRect">
            <a:avLst>
              <a:gd name="adj" fmla="val 50000"/>
            </a:avLst>
          </a:prstGeom>
          <a:solidFill>
            <a:srgbClr val="1EC290"/>
          </a:solidFill>
          <a:ln/>
        </p:spPr>
      </p:sp>
      <p:sp>
        <p:nvSpPr>
          <p:cNvPr id="16" name="Shape 14"/>
          <p:cNvSpPr/>
          <p:nvPr/>
        </p:nvSpPr>
        <p:spPr>
          <a:xfrm>
            <a:off x="6898408" y="3651448"/>
            <a:ext cx="514337" cy="514350"/>
          </a:xfrm>
          <a:prstGeom prst="roundRect">
            <a:avLst>
              <a:gd name="adj" fmla="val 40000"/>
            </a:avLst>
          </a:prstGeom>
          <a:solidFill>
            <a:srgbClr val="38DCAA"/>
          </a:solidFill>
          <a:ln w="25399">
            <a:solidFill>
              <a:srgbClr val="1EC290"/>
            </a:solidFill>
            <a:prstDash val="solid"/>
          </a:ln>
        </p:spPr>
      </p:sp>
      <p:sp>
        <p:nvSpPr>
          <p:cNvPr id="17" name="Text 15"/>
          <p:cNvSpPr/>
          <p:nvPr/>
        </p:nvSpPr>
        <p:spPr>
          <a:xfrm>
            <a:off x="6984131" y="3745756"/>
            <a:ext cx="342891" cy="325735"/>
          </a:xfrm>
          <a:prstGeom prst="rect">
            <a:avLst/>
          </a:prstGeom>
          <a:noFill/>
          <a:ln/>
        </p:spPr>
        <p:txBody>
          <a:bodyPr wrap="none" lIns="0" tIns="0" rIns="0" bIns="0" rtlCol="0" anchor="ctr"/>
          <a:lstStyle/>
          <a:p>
            <a:pPr algn="ctr" indent="0" marL="0">
              <a:lnSpc>
                <a:spcPct val="100000"/>
              </a:lnSpc>
              <a:buNone/>
            </a:pPr>
            <a:r>
              <a:rPr lang="en-US" sz="2700" dirty="0">
                <a:solidFill>
                  <a:srgbClr val="000000"/>
                </a:solidFill>
                <a:latin typeface="Big Shoulders ExtraBold" pitchFamily="34" charset="0"/>
                <a:ea typeface="Big Shoulders ExtraBold" pitchFamily="34" charset="-122"/>
                <a:cs typeface="Big Shoulders ExtraBold" pitchFamily="34" charset="0"/>
              </a:rPr>
              <a:t>3</a:t>
            </a:r>
            <a:endParaRPr lang="en-US" sz="2700" dirty="0"/>
          </a:p>
        </p:txBody>
      </p:sp>
      <p:sp>
        <p:nvSpPr>
          <p:cNvPr id="18" name="Text 16"/>
          <p:cNvSpPr/>
          <p:nvPr/>
        </p:nvSpPr>
        <p:spPr>
          <a:xfrm>
            <a:off x="5407485" y="1998663"/>
            <a:ext cx="3496183" cy="241300"/>
          </a:xfrm>
          <a:prstGeom prst="rect">
            <a:avLst/>
          </a:prstGeom>
          <a:noFill/>
          <a:ln/>
        </p:spPr>
        <p:txBody>
          <a:bodyPr wrap="none" lIns="0" tIns="0" rIns="0" bIns="0" rtlCol="0" anchor="t"/>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LEARNING &amp; WINTERS</a:t>
            </a:r>
            <a:endParaRPr lang="en-US" sz="2000" dirty="0"/>
          </a:p>
        </p:txBody>
      </p:sp>
      <p:sp>
        <p:nvSpPr>
          <p:cNvPr id="19" name="Text 17"/>
          <p:cNvSpPr/>
          <p:nvPr/>
        </p:nvSpPr>
        <p:spPr>
          <a:xfrm>
            <a:off x="5407485" y="2377083"/>
            <a:ext cx="3496183" cy="617141"/>
          </a:xfrm>
          <a:prstGeom prst="rect">
            <a:avLst/>
          </a:prstGeom>
          <a:noFill/>
          <a:ln/>
        </p:spPr>
        <p:txBody>
          <a:bodyPr wrap="square" lIns="0" tIns="0" rIns="0" bIns="0" rtlCol="0" anchor="t">
            <a:normAutofit/>
          </a:bodyPr>
          <a:lstStyle/>
          <a:p>
            <a:pPr algn="ctr" indent="0" marL="0">
              <a:lnSpc>
                <a:spcPct val="113000"/>
              </a:lnSpc>
              <a:buNone/>
            </a:pPr>
            <a:r>
              <a:rPr lang="en-US" sz="1800" dirty="0">
                <a:solidFill>
                  <a:srgbClr val="FFFFFF"/>
                </a:solidFill>
                <a:latin typeface="Onest" pitchFamily="34" charset="0"/>
                <a:ea typeface="Onest" pitchFamily="34" charset="-122"/>
                <a:cs typeface="Onest" pitchFamily="34" charset="0"/>
              </a:rPr>
              <a:t>Data-driven methods grow amid setbacks and funding cuts.</a:t>
            </a:r>
            <a:endParaRPr lang="en-US" sz="1800" dirty="0"/>
          </a:p>
        </p:txBody>
      </p:sp>
      <p:sp>
        <p:nvSpPr>
          <p:cNvPr id="20" name="Shape 18"/>
          <p:cNvSpPr/>
          <p:nvPr/>
        </p:nvSpPr>
        <p:spPr>
          <a:xfrm>
            <a:off x="9260846" y="3908623"/>
            <a:ext cx="28574" cy="685800"/>
          </a:xfrm>
          <a:prstGeom prst="roundRect">
            <a:avLst>
              <a:gd name="adj" fmla="val 50000"/>
            </a:avLst>
          </a:prstGeom>
          <a:solidFill>
            <a:srgbClr val="1EC290"/>
          </a:solidFill>
          <a:ln/>
        </p:spPr>
      </p:sp>
      <p:sp>
        <p:nvSpPr>
          <p:cNvPr id="21" name="Shape 19"/>
          <p:cNvSpPr/>
          <p:nvPr/>
        </p:nvSpPr>
        <p:spPr>
          <a:xfrm>
            <a:off x="9017965" y="3651448"/>
            <a:ext cx="514337" cy="514350"/>
          </a:xfrm>
          <a:prstGeom prst="roundRect">
            <a:avLst>
              <a:gd name="adj" fmla="val 40000"/>
            </a:avLst>
          </a:prstGeom>
          <a:solidFill>
            <a:srgbClr val="38DCAA"/>
          </a:solidFill>
          <a:ln w="25399">
            <a:solidFill>
              <a:srgbClr val="1EC290"/>
            </a:solidFill>
            <a:prstDash val="solid"/>
          </a:ln>
        </p:spPr>
      </p:sp>
      <p:sp>
        <p:nvSpPr>
          <p:cNvPr id="22" name="Text 20"/>
          <p:cNvSpPr/>
          <p:nvPr/>
        </p:nvSpPr>
        <p:spPr>
          <a:xfrm>
            <a:off x="9103688" y="3745756"/>
            <a:ext cx="342891" cy="325735"/>
          </a:xfrm>
          <a:prstGeom prst="rect">
            <a:avLst/>
          </a:prstGeom>
          <a:noFill/>
          <a:ln/>
        </p:spPr>
        <p:txBody>
          <a:bodyPr wrap="none" lIns="0" tIns="0" rIns="0" bIns="0" rtlCol="0" anchor="ctr"/>
          <a:lstStyle/>
          <a:p>
            <a:pPr algn="ctr" indent="0" marL="0">
              <a:lnSpc>
                <a:spcPct val="100000"/>
              </a:lnSpc>
              <a:buNone/>
            </a:pPr>
            <a:r>
              <a:rPr lang="en-US" sz="2700" dirty="0">
                <a:solidFill>
                  <a:srgbClr val="000000"/>
                </a:solidFill>
                <a:latin typeface="Big Shoulders ExtraBold" pitchFamily="34" charset="0"/>
                <a:ea typeface="Big Shoulders ExtraBold" pitchFamily="34" charset="-122"/>
                <a:cs typeface="Big Shoulders ExtraBold" pitchFamily="34" charset="0"/>
              </a:rPr>
              <a:t>4</a:t>
            </a:r>
            <a:endParaRPr lang="en-US" sz="2700" dirty="0"/>
          </a:p>
        </p:txBody>
      </p:sp>
      <p:sp>
        <p:nvSpPr>
          <p:cNvPr id="23" name="Text 21"/>
          <p:cNvSpPr/>
          <p:nvPr/>
        </p:nvSpPr>
        <p:spPr>
          <a:xfrm>
            <a:off x="7527042" y="4823023"/>
            <a:ext cx="3496183" cy="241300"/>
          </a:xfrm>
          <a:prstGeom prst="rect">
            <a:avLst/>
          </a:prstGeom>
          <a:noFill/>
          <a:ln/>
        </p:spPr>
        <p:txBody>
          <a:bodyPr wrap="none" lIns="0" tIns="0" rIns="0" bIns="0" rtlCol="0" anchor="t"/>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DEEP LEARNING</a:t>
            </a:r>
            <a:endParaRPr lang="en-US" sz="2000" dirty="0"/>
          </a:p>
        </p:txBody>
      </p:sp>
      <p:sp>
        <p:nvSpPr>
          <p:cNvPr id="24" name="Text 22"/>
          <p:cNvSpPr/>
          <p:nvPr/>
        </p:nvSpPr>
        <p:spPr>
          <a:xfrm>
            <a:off x="7527042" y="5201444"/>
            <a:ext cx="3496183" cy="617141"/>
          </a:xfrm>
          <a:prstGeom prst="rect">
            <a:avLst/>
          </a:prstGeom>
          <a:noFill/>
          <a:ln/>
        </p:spPr>
        <p:txBody>
          <a:bodyPr wrap="square" lIns="0" tIns="0" rIns="0" bIns="0" rtlCol="0" anchor="t">
            <a:normAutofit/>
          </a:bodyPr>
          <a:lstStyle/>
          <a:p>
            <a:pPr algn="ctr" indent="0" marL="0">
              <a:lnSpc>
                <a:spcPct val="113000"/>
              </a:lnSpc>
              <a:buNone/>
            </a:pPr>
            <a:r>
              <a:rPr lang="en-US" sz="1800" dirty="0">
                <a:solidFill>
                  <a:srgbClr val="FFFFFF"/>
                </a:solidFill>
                <a:latin typeface="Onest" pitchFamily="34" charset="0"/>
                <a:ea typeface="Onest" pitchFamily="34" charset="-122"/>
                <a:cs typeface="Onest" pitchFamily="34" charset="0"/>
              </a:rPr>
              <a:t>Multi-layer networks power the generative AI era.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6733" y="596900"/>
            <a:ext cx="10680433"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AI, MACHINE LEARNING AND DEEP LEARNING</a:t>
            </a:r>
            <a:endParaRPr lang="en-US" sz="4000" dirty="0"/>
          </a:p>
        </p:txBody>
      </p:sp>
      <p:sp>
        <p:nvSpPr>
          <p:cNvPr id="3" name="Shape 1"/>
          <p:cNvSpPr/>
          <p:nvPr/>
        </p:nvSpPr>
        <p:spPr>
          <a:xfrm>
            <a:off x="838179" y="1905000"/>
            <a:ext cx="4444889" cy="4445000"/>
          </a:xfrm>
          <a:prstGeom prst="ellipse">
            <a:avLst/>
          </a:prstGeom>
          <a:solidFill>
            <a:srgbClr val="0B2941"/>
          </a:solidFill>
          <a:ln w="25400">
            <a:solidFill>
              <a:srgbClr val="4FCBFF"/>
            </a:solidFill>
            <a:prstDash val="solid"/>
          </a:ln>
        </p:spPr>
      </p:sp>
      <p:sp>
        <p:nvSpPr>
          <p:cNvPr id="4" name="Shape 2"/>
          <p:cNvSpPr/>
          <p:nvPr/>
        </p:nvSpPr>
        <p:spPr>
          <a:xfrm>
            <a:off x="1562061" y="3136900"/>
            <a:ext cx="2997125" cy="2997200"/>
          </a:xfrm>
          <a:prstGeom prst="ellipse">
            <a:avLst/>
          </a:prstGeom>
          <a:solidFill>
            <a:srgbClr val="104839"/>
          </a:solidFill>
          <a:ln w="25400">
            <a:solidFill>
              <a:srgbClr val="58E6B0"/>
            </a:solidFill>
            <a:prstDash val="solid"/>
          </a:ln>
        </p:spPr>
      </p:sp>
      <p:sp>
        <p:nvSpPr>
          <p:cNvPr id="5" name="Shape 3"/>
          <p:cNvSpPr/>
          <p:nvPr/>
        </p:nvSpPr>
        <p:spPr>
          <a:xfrm>
            <a:off x="2197045" y="4381500"/>
            <a:ext cx="1727157" cy="1727200"/>
          </a:xfrm>
          <a:prstGeom prst="ellipse">
            <a:avLst/>
          </a:prstGeom>
          <a:solidFill>
            <a:srgbClr val="09697B"/>
          </a:solidFill>
          <a:ln w="25400">
            <a:solidFill>
              <a:srgbClr val="7CEBFF"/>
            </a:solidFill>
            <a:prstDash val="solid"/>
          </a:ln>
        </p:spPr>
      </p:sp>
      <p:sp>
        <p:nvSpPr>
          <p:cNvPr id="6" name="Text 4"/>
          <p:cNvSpPr/>
          <p:nvPr/>
        </p:nvSpPr>
        <p:spPr>
          <a:xfrm>
            <a:off x="1657309" y="2470764"/>
            <a:ext cx="2806630" cy="337741"/>
          </a:xfrm>
          <a:prstGeom prst="rect">
            <a:avLst/>
          </a:prstGeom>
          <a:noFill/>
          <a:ln/>
        </p:spPr>
        <p:txBody>
          <a:bodyPr wrap="none" lIns="0" tIns="0" rIns="0" bIns="0" rtlCol="0" anchor="t"/>
          <a:lstStyle/>
          <a:p>
            <a:pPr algn="ctr"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AI</a:t>
            </a:r>
            <a:endParaRPr lang="en-US" sz="2800" dirty="0"/>
          </a:p>
        </p:txBody>
      </p:sp>
      <p:sp>
        <p:nvSpPr>
          <p:cNvPr id="7" name="Text 5"/>
          <p:cNvSpPr/>
          <p:nvPr/>
        </p:nvSpPr>
        <p:spPr>
          <a:xfrm>
            <a:off x="1974801" y="3600450"/>
            <a:ext cx="2171646" cy="241300"/>
          </a:xfrm>
          <a:prstGeom prst="rect">
            <a:avLst/>
          </a:prstGeom>
          <a:noFill/>
          <a:ln/>
        </p:spPr>
        <p:txBody>
          <a:bodyPr wrap="none" lIns="0" tIns="0" rIns="0" bIns="0" rtlCol="0" anchor="t"/>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MACHINE LEARNING</a:t>
            </a:r>
            <a:endParaRPr lang="en-US" sz="2000" dirty="0"/>
          </a:p>
        </p:txBody>
      </p:sp>
      <p:sp>
        <p:nvSpPr>
          <p:cNvPr id="8" name="Text 6"/>
          <p:cNvSpPr/>
          <p:nvPr/>
        </p:nvSpPr>
        <p:spPr>
          <a:xfrm>
            <a:off x="2444689" y="4972050"/>
            <a:ext cx="1231869" cy="482600"/>
          </a:xfrm>
          <a:prstGeom prst="rect">
            <a:avLst/>
          </a:prstGeom>
          <a:noFill/>
          <a:ln/>
        </p:spPr>
        <p:txBody>
          <a:bodyPr wrap="square" lIns="0" tIns="0" rIns="0" bIns="0" rtlCol="0" anchor="t">
            <a:normAutofit/>
          </a:bodyPr>
          <a:lstStyle/>
          <a:p>
            <a:pPr algn="ctr" indent="0" marL="0">
              <a:lnSpc>
                <a:spcPct val="79000"/>
              </a:lnSpc>
              <a:buNone/>
            </a:pPr>
            <a:r>
              <a:rPr lang="en-US" sz="2000" dirty="0">
                <a:solidFill>
                  <a:srgbClr val="FFFFFF"/>
                </a:solidFill>
                <a:latin typeface="Big Shoulders ExtraBold" pitchFamily="34" charset="0"/>
                <a:ea typeface="Big Shoulders ExtraBold" pitchFamily="34" charset="-122"/>
                <a:cs typeface="Big Shoulders ExtraBold" pitchFamily="34" charset="0"/>
              </a:rPr>
              <a:t>DEEP LEARNING</a:t>
            </a:r>
            <a:endParaRPr lang="en-US" sz="2000" dirty="0"/>
          </a:p>
        </p:txBody>
      </p:sp>
      <p:sp>
        <p:nvSpPr>
          <p:cNvPr id="9" name="Text 7"/>
          <p:cNvSpPr/>
          <p:nvPr/>
        </p:nvSpPr>
        <p:spPr>
          <a:xfrm>
            <a:off x="6025999" y="2178664"/>
            <a:ext cx="5219569" cy="337741"/>
          </a:xfrm>
          <a:prstGeom prst="rect">
            <a:avLst/>
          </a:prstGeom>
          <a:noFill/>
          <a:ln/>
        </p:spPr>
        <p:txBody>
          <a:bodyPr wrap="none" lIns="0" tIns="0" rIns="0" bIns="0" rtlCol="0" anchor="t"/>
          <a:lstStyle/>
          <a:p>
            <a:pPr algn="l" indent="0" marL="0">
              <a:lnSpc>
                <a:spcPct val="79000"/>
              </a:lnSpc>
              <a:buNone/>
            </a:pPr>
            <a:r>
              <a:rPr lang="en-US" sz="2800" dirty="0">
                <a:solidFill>
                  <a:srgbClr val="4FCBFF"/>
                </a:solidFill>
                <a:latin typeface="Big Shoulders ExtraBold" pitchFamily="34" charset="0"/>
                <a:ea typeface="Big Shoulders ExtraBold" pitchFamily="34" charset="-122"/>
                <a:cs typeface="Big Shoulders ExtraBold" pitchFamily="34" charset="0"/>
              </a:rPr>
              <a:t>THE BROAD GOAL</a:t>
            </a:r>
            <a:endParaRPr lang="en-US" sz="2800" dirty="0"/>
          </a:p>
        </p:txBody>
      </p:sp>
      <p:sp>
        <p:nvSpPr>
          <p:cNvPr id="10" name="Text 8"/>
          <p:cNvSpPr/>
          <p:nvPr/>
        </p:nvSpPr>
        <p:spPr>
          <a:xfrm>
            <a:off x="6025999" y="2636441"/>
            <a:ext cx="5829154" cy="308570"/>
          </a:xfrm>
          <a:prstGeom prst="rect">
            <a:avLst/>
          </a:prstGeom>
          <a:noFill/>
          <a:ln/>
        </p:spPr>
        <p:txBody>
          <a:bodyPr wrap="none" lIns="0" tIns="0" rIns="0" bIns="0" rtlCol="0" anchor="t"/>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AI performs tasks associated with intelligence.</a:t>
            </a:r>
            <a:endParaRPr lang="en-US" sz="1800" dirty="0"/>
          </a:p>
        </p:txBody>
      </p:sp>
      <p:sp>
        <p:nvSpPr>
          <p:cNvPr id="11" name="Text 9"/>
          <p:cNvSpPr/>
          <p:nvPr/>
        </p:nvSpPr>
        <p:spPr>
          <a:xfrm>
            <a:off x="6025999" y="3639164"/>
            <a:ext cx="5219569" cy="337741"/>
          </a:xfrm>
          <a:prstGeom prst="rect">
            <a:avLst/>
          </a:prstGeom>
          <a:noFill/>
          <a:ln/>
        </p:spPr>
        <p:txBody>
          <a:bodyPr wrap="none" lIns="0" tIns="0" rIns="0" bIns="0" rtlCol="0" anchor="t"/>
          <a:lstStyle/>
          <a:p>
            <a:pPr algn="l" indent="0" marL="0">
              <a:lnSpc>
                <a:spcPct val="79000"/>
              </a:lnSpc>
              <a:buNone/>
            </a:pPr>
            <a:r>
              <a:rPr lang="en-US" sz="2800" dirty="0">
                <a:solidFill>
                  <a:srgbClr val="58E6B0"/>
                </a:solidFill>
                <a:latin typeface="Big Shoulders ExtraBold" pitchFamily="34" charset="0"/>
                <a:ea typeface="Big Shoulders ExtraBold" pitchFamily="34" charset="-122"/>
                <a:cs typeface="Big Shoulders ExtraBold" pitchFamily="34" charset="0"/>
              </a:rPr>
              <a:t>LEARNING FROM DATA</a:t>
            </a:r>
            <a:endParaRPr lang="en-US" sz="2800" dirty="0"/>
          </a:p>
        </p:txBody>
      </p:sp>
      <p:sp>
        <p:nvSpPr>
          <p:cNvPr id="12" name="Text 10"/>
          <p:cNvSpPr/>
          <p:nvPr/>
        </p:nvSpPr>
        <p:spPr>
          <a:xfrm>
            <a:off x="6025999" y="4096941"/>
            <a:ext cx="5219569"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Machine learning finds patterns through examples.</a:t>
            </a:r>
            <a:endParaRPr lang="en-US" sz="1800" dirty="0"/>
          </a:p>
        </p:txBody>
      </p:sp>
      <p:sp>
        <p:nvSpPr>
          <p:cNvPr id="13" name="Text 11"/>
          <p:cNvSpPr/>
          <p:nvPr/>
        </p:nvSpPr>
        <p:spPr>
          <a:xfrm>
            <a:off x="6025999" y="5099664"/>
            <a:ext cx="5219569" cy="337741"/>
          </a:xfrm>
          <a:prstGeom prst="rect">
            <a:avLst/>
          </a:prstGeom>
          <a:noFill/>
          <a:ln/>
        </p:spPr>
        <p:txBody>
          <a:bodyPr wrap="none" lIns="0" tIns="0" rIns="0" bIns="0" rtlCol="0" anchor="t"/>
          <a:lstStyle/>
          <a:p>
            <a:pPr algn="l" indent="0" marL="0">
              <a:lnSpc>
                <a:spcPct val="79000"/>
              </a:lnSpc>
              <a:buNone/>
            </a:pPr>
            <a:r>
              <a:rPr lang="en-US" sz="2800" dirty="0">
                <a:solidFill>
                  <a:srgbClr val="7CEBFF"/>
                </a:solidFill>
                <a:latin typeface="Big Shoulders ExtraBold" pitchFamily="34" charset="0"/>
                <a:ea typeface="Big Shoulders ExtraBold" pitchFamily="34" charset="-122"/>
                <a:cs typeface="Big Shoulders ExtraBold" pitchFamily="34" charset="0"/>
              </a:rPr>
              <a:t>MULTI-LAYER NETWORKS</a:t>
            </a:r>
            <a:endParaRPr lang="en-US" sz="2800" dirty="0"/>
          </a:p>
        </p:txBody>
      </p:sp>
      <p:sp>
        <p:nvSpPr>
          <p:cNvPr id="14" name="Text 12"/>
          <p:cNvSpPr/>
          <p:nvPr/>
        </p:nvSpPr>
        <p:spPr>
          <a:xfrm>
            <a:off x="6025999" y="5557441"/>
            <a:ext cx="5219569"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Deep learning uses neural networks with many layers.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22300"/>
            <a:ext cx="10972526"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MODELS LEARN BY ADJUSTING MILLIONS OF NUMBERS</a:t>
            </a:r>
            <a:endParaRPr lang="en-US" sz="4000" dirty="0"/>
          </a:p>
        </p:txBody>
      </p:sp>
      <p:sp>
        <p:nvSpPr>
          <p:cNvPr id="3" name="Text 1"/>
          <p:cNvSpPr/>
          <p:nvPr/>
        </p:nvSpPr>
        <p:spPr>
          <a:xfrm>
            <a:off x="609585" y="2166144"/>
            <a:ext cx="917354" cy="228600"/>
          </a:xfrm>
          <a:prstGeom prst="rect">
            <a:avLst/>
          </a:prstGeom>
          <a:noFill/>
          <a:ln/>
        </p:spPr>
        <p:txBody>
          <a:bodyPr wrap="none" lIns="0" tIns="0" rIns="0" bIns="0" rtlCol="0" anchor="t"/>
          <a:lstStyle/>
          <a:p>
            <a:pPr algn="l" indent="0" marL="0">
              <a:lnSpc>
                <a:spcPct val="83000"/>
              </a:lnSpc>
              <a:buNone/>
            </a:pPr>
            <a:r>
              <a:rPr lang="en-US" sz="1800" dirty="0">
                <a:solidFill>
                  <a:srgbClr val="58E6B0"/>
                </a:solidFill>
                <a:latin typeface="Onest SemiBold" pitchFamily="34" charset="0"/>
                <a:ea typeface="Onest SemiBold" pitchFamily="34" charset="-122"/>
                <a:cs typeface="Onest SemiBold" pitchFamily="34" charset="0"/>
              </a:rPr>
              <a:t>01</a:t>
            </a:r>
            <a:endParaRPr lang="en-US" sz="1800" dirty="0"/>
          </a:p>
        </p:txBody>
      </p:sp>
      <p:sp>
        <p:nvSpPr>
          <p:cNvPr id="4" name="Shape 2"/>
          <p:cNvSpPr/>
          <p:nvPr/>
        </p:nvSpPr>
        <p:spPr>
          <a:xfrm>
            <a:off x="609585" y="2486223"/>
            <a:ext cx="2514537" cy="19050"/>
          </a:xfrm>
          <a:prstGeom prst="rect">
            <a:avLst/>
          </a:prstGeom>
          <a:solidFill>
            <a:srgbClr val="4FCBFF"/>
          </a:solidFill>
          <a:ln/>
        </p:spPr>
      </p:sp>
      <p:sp>
        <p:nvSpPr>
          <p:cNvPr id="5" name="Text 3"/>
          <p:cNvSpPr/>
          <p:nvPr/>
        </p:nvSpPr>
        <p:spPr>
          <a:xfrm>
            <a:off x="609585" y="2687457"/>
            <a:ext cx="2514537"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FEED IN DATA</a:t>
            </a:r>
            <a:endParaRPr lang="en-US" sz="2800" dirty="0"/>
          </a:p>
        </p:txBody>
      </p:sp>
      <p:sp>
        <p:nvSpPr>
          <p:cNvPr id="6" name="Text 4"/>
          <p:cNvSpPr/>
          <p:nvPr/>
        </p:nvSpPr>
        <p:spPr>
          <a:xfrm>
            <a:off x="609585" y="3145234"/>
            <a:ext cx="2514537"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Give the model examples to learn from.</a:t>
            </a:r>
            <a:endParaRPr lang="en-US" sz="1800" dirty="0"/>
          </a:p>
        </p:txBody>
      </p:sp>
      <p:sp>
        <p:nvSpPr>
          <p:cNvPr id="7" name="Text 5"/>
          <p:cNvSpPr/>
          <p:nvPr/>
        </p:nvSpPr>
        <p:spPr>
          <a:xfrm>
            <a:off x="3428914" y="2166144"/>
            <a:ext cx="917354" cy="228600"/>
          </a:xfrm>
          <a:prstGeom prst="rect">
            <a:avLst/>
          </a:prstGeom>
          <a:noFill/>
          <a:ln/>
        </p:spPr>
        <p:txBody>
          <a:bodyPr wrap="none" lIns="0" tIns="0" rIns="0" bIns="0" rtlCol="0" anchor="t"/>
          <a:lstStyle/>
          <a:p>
            <a:pPr algn="l" indent="0" marL="0">
              <a:lnSpc>
                <a:spcPct val="83000"/>
              </a:lnSpc>
              <a:buNone/>
            </a:pPr>
            <a:r>
              <a:rPr lang="en-US" sz="1800" dirty="0">
                <a:solidFill>
                  <a:srgbClr val="58E6B0"/>
                </a:solidFill>
                <a:latin typeface="Onest SemiBold" pitchFamily="34" charset="0"/>
                <a:ea typeface="Onest SemiBold" pitchFamily="34" charset="-122"/>
                <a:cs typeface="Onest SemiBold" pitchFamily="34" charset="0"/>
              </a:rPr>
              <a:t>02</a:t>
            </a:r>
            <a:endParaRPr lang="en-US" sz="1800" dirty="0"/>
          </a:p>
        </p:txBody>
      </p:sp>
      <p:sp>
        <p:nvSpPr>
          <p:cNvPr id="8" name="Shape 6"/>
          <p:cNvSpPr/>
          <p:nvPr/>
        </p:nvSpPr>
        <p:spPr>
          <a:xfrm>
            <a:off x="3428914" y="2486223"/>
            <a:ext cx="2514537" cy="19050"/>
          </a:xfrm>
          <a:prstGeom prst="rect">
            <a:avLst/>
          </a:prstGeom>
          <a:solidFill>
            <a:srgbClr val="4FCBFF"/>
          </a:solidFill>
          <a:ln/>
        </p:spPr>
      </p:sp>
      <p:sp>
        <p:nvSpPr>
          <p:cNvPr id="9" name="Text 7"/>
          <p:cNvSpPr/>
          <p:nvPr/>
        </p:nvSpPr>
        <p:spPr>
          <a:xfrm>
            <a:off x="3428914" y="2687457"/>
            <a:ext cx="2514537"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MEASURE ERROR</a:t>
            </a:r>
            <a:endParaRPr lang="en-US" sz="2800" dirty="0"/>
          </a:p>
        </p:txBody>
      </p:sp>
      <p:sp>
        <p:nvSpPr>
          <p:cNvPr id="10" name="Text 8"/>
          <p:cNvSpPr/>
          <p:nvPr/>
        </p:nvSpPr>
        <p:spPr>
          <a:xfrm>
            <a:off x="3428914" y="3145234"/>
            <a:ext cx="2514537"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Compare its prediction with the training objective.</a:t>
            </a:r>
            <a:endParaRPr lang="en-US" sz="1800" dirty="0"/>
          </a:p>
        </p:txBody>
      </p:sp>
      <p:sp>
        <p:nvSpPr>
          <p:cNvPr id="11" name="Text 9"/>
          <p:cNvSpPr/>
          <p:nvPr/>
        </p:nvSpPr>
        <p:spPr>
          <a:xfrm>
            <a:off x="6248244" y="2166144"/>
            <a:ext cx="917354" cy="228600"/>
          </a:xfrm>
          <a:prstGeom prst="rect">
            <a:avLst/>
          </a:prstGeom>
          <a:noFill/>
          <a:ln/>
        </p:spPr>
        <p:txBody>
          <a:bodyPr wrap="none" lIns="0" tIns="0" rIns="0" bIns="0" rtlCol="0" anchor="t"/>
          <a:lstStyle/>
          <a:p>
            <a:pPr algn="l" indent="0" marL="0">
              <a:lnSpc>
                <a:spcPct val="83000"/>
              </a:lnSpc>
              <a:buNone/>
            </a:pPr>
            <a:r>
              <a:rPr lang="en-US" sz="1800" dirty="0">
                <a:solidFill>
                  <a:srgbClr val="58E6B0"/>
                </a:solidFill>
                <a:latin typeface="Onest SemiBold" pitchFamily="34" charset="0"/>
                <a:ea typeface="Onest SemiBold" pitchFamily="34" charset="-122"/>
                <a:cs typeface="Onest SemiBold" pitchFamily="34" charset="0"/>
              </a:rPr>
              <a:t>03</a:t>
            </a:r>
            <a:endParaRPr lang="en-US" sz="1800" dirty="0"/>
          </a:p>
        </p:txBody>
      </p:sp>
      <p:sp>
        <p:nvSpPr>
          <p:cNvPr id="12" name="Shape 10"/>
          <p:cNvSpPr/>
          <p:nvPr/>
        </p:nvSpPr>
        <p:spPr>
          <a:xfrm>
            <a:off x="6248244" y="2486223"/>
            <a:ext cx="2514537" cy="19050"/>
          </a:xfrm>
          <a:prstGeom prst="rect">
            <a:avLst/>
          </a:prstGeom>
          <a:solidFill>
            <a:srgbClr val="4FCBFF"/>
          </a:solidFill>
          <a:ln/>
        </p:spPr>
      </p:sp>
      <p:sp>
        <p:nvSpPr>
          <p:cNvPr id="13" name="Text 11"/>
          <p:cNvSpPr/>
          <p:nvPr/>
        </p:nvSpPr>
        <p:spPr>
          <a:xfrm>
            <a:off x="6248244" y="2687457"/>
            <a:ext cx="2514537" cy="675481"/>
          </a:xfrm>
          <a:prstGeom prst="rect">
            <a:avLst/>
          </a:prstGeom>
          <a:noFill/>
          <a:ln/>
        </p:spPr>
        <p:txBody>
          <a:bodyPr wrap="square" lIns="0" tIns="0" rIns="0" bIns="0" rtlCol="0" anchor="t">
            <a:normAutofit/>
          </a:bodyPr>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ADJUST PARAMETERS</a:t>
            </a:r>
            <a:endParaRPr lang="en-US" sz="2800" dirty="0"/>
          </a:p>
        </p:txBody>
      </p:sp>
      <p:sp>
        <p:nvSpPr>
          <p:cNvPr id="14" name="Text 12"/>
          <p:cNvSpPr/>
          <p:nvPr/>
        </p:nvSpPr>
        <p:spPr>
          <a:xfrm>
            <a:off x="6248244" y="3482975"/>
            <a:ext cx="2514537"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Gradient descent nudges the numbers toward lower error.</a:t>
            </a:r>
            <a:endParaRPr lang="en-US" sz="1800" dirty="0"/>
          </a:p>
        </p:txBody>
      </p:sp>
      <p:sp>
        <p:nvSpPr>
          <p:cNvPr id="15" name="Text 13"/>
          <p:cNvSpPr/>
          <p:nvPr/>
        </p:nvSpPr>
        <p:spPr>
          <a:xfrm>
            <a:off x="9067573" y="2166144"/>
            <a:ext cx="917354" cy="228600"/>
          </a:xfrm>
          <a:prstGeom prst="rect">
            <a:avLst/>
          </a:prstGeom>
          <a:noFill/>
          <a:ln/>
        </p:spPr>
        <p:txBody>
          <a:bodyPr wrap="none" lIns="0" tIns="0" rIns="0" bIns="0" rtlCol="0" anchor="t"/>
          <a:lstStyle/>
          <a:p>
            <a:pPr algn="l" indent="0" marL="0">
              <a:lnSpc>
                <a:spcPct val="83000"/>
              </a:lnSpc>
              <a:buNone/>
            </a:pPr>
            <a:r>
              <a:rPr lang="en-US" sz="1800" dirty="0">
                <a:solidFill>
                  <a:srgbClr val="58E6B0"/>
                </a:solidFill>
                <a:latin typeface="Onest SemiBold" pitchFamily="34" charset="0"/>
                <a:ea typeface="Onest SemiBold" pitchFamily="34" charset="-122"/>
                <a:cs typeface="Onest SemiBold" pitchFamily="34" charset="0"/>
              </a:rPr>
              <a:t>04</a:t>
            </a:r>
            <a:endParaRPr lang="en-US" sz="1800" dirty="0"/>
          </a:p>
        </p:txBody>
      </p:sp>
      <p:sp>
        <p:nvSpPr>
          <p:cNvPr id="16" name="Shape 14"/>
          <p:cNvSpPr/>
          <p:nvPr/>
        </p:nvSpPr>
        <p:spPr>
          <a:xfrm>
            <a:off x="9067573" y="2486223"/>
            <a:ext cx="2514537" cy="19050"/>
          </a:xfrm>
          <a:prstGeom prst="rect">
            <a:avLst/>
          </a:prstGeom>
          <a:solidFill>
            <a:srgbClr val="4FCBFF"/>
          </a:solidFill>
          <a:ln/>
        </p:spPr>
      </p:sp>
      <p:sp>
        <p:nvSpPr>
          <p:cNvPr id="17" name="Text 15"/>
          <p:cNvSpPr/>
          <p:nvPr/>
        </p:nvSpPr>
        <p:spPr>
          <a:xfrm>
            <a:off x="9067573" y="2687457"/>
            <a:ext cx="2514537"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REPEAT</a:t>
            </a:r>
            <a:endParaRPr lang="en-US" sz="2800" dirty="0"/>
          </a:p>
        </p:txBody>
      </p:sp>
      <p:sp>
        <p:nvSpPr>
          <p:cNvPr id="18" name="Text 16"/>
          <p:cNvSpPr/>
          <p:nvPr/>
        </p:nvSpPr>
        <p:spPr>
          <a:xfrm>
            <a:off x="9067573" y="3145234"/>
            <a:ext cx="2514537"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Train repeatedly, then test on unseen data.</a:t>
            </a:r>
            <a:endParaRPr lang="en-US" sz="1800" dirty="0"/>
          </a:p>
        </p:txBody>
      </p:sp>
      <p:sp>
        <p:nvSpPr>
          <p:cNvPr id="19" name="Shape 17"/>
          <p:cNvSpPr/>
          <p:nvPr/>
        </p:nvSpPr>
        <p:spPr>
          <a:xfrm>
            <a:off x="609585" y="5533430"/>
            <a:ext cx="10972526" cy="765770"/>
          </a:xfrm>
          <a:prstGeom prst="roundRect">
            <a:avLst>
              <a:gd name="adj" fmla="val 31842"/>
            </a:avLst>
          </a:prstGeom>
          <a:solidFill>
            <a:srgbClr val="0C2637"/>
          </a:solidFill>
          <a:ln/>
        </p:spPr>
      </p:sp>
      <p:sp>
        <p:nvSpPr>
          <p:cNvPr id="20" name="Text 18"/>
          <p:cNvSpPr/>
          <p:nvPr/>
        </p:nvSpPr>
        <p:spPr>
          <a:xfrm>
            <a:off x="914377" y="5762030"/>
            <a:ext cx="10667733" cy="308570"/>
          </a:xfrm>
          <a:prstGeom prst="rect">
            <a:avLst/>
          </a:prstGeom>
          <a:noFill/>
          <a:ln/>
        </p:spPr>
        <p:txBody>
          <a:bodyPr wrap="none" lIns="0" tIns="0" rIns="0" bIns="0" rtlCol="0" anchor="t"/>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Lower training error matters only if the model also works on new examples.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2300"/>
            <a:ext cx="10972526"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THREE MAIN STYLES OF LEARNING</a:t>
            </a:r>
            <a:endParaRPr lang="en-US" sz="4000" dirty="0"/>
          </a:p>
        </p:txBody>
      </p:sp>
      <p:sp>
        <p:nvSpPr>
          <p:cNvPr id="3" name="Text 1"/>
          <p:cNvSpPr/>
          <p:nvPr/>
        </p:nvSpPr>
        <p:spPr>
          <a:xfrm>
            <a:off x="888978" y="2865172"/>
            <a:ext cx="3098722" cy="410170"/>
          </a:xfrm>
          <a:prstGeom prst="rect">
            <a:avLst/>
          </a:prstGeom>
          <a:noFill/>
          <a:ln/>
        </p:spPr>
        <p:txBody>
          <a:bodyPr wrap="none" lIns="0" tIns="0" rIns="0" bIns="0" rtlCol="0" anchor="t"/>
          <a:lstStyle/>
          <a:p>
            <a:pPr algn="l" indent="0" marL="0">
              <a:lnSpc>
                <a:spcPct val="79000"/>
              </a:lnSpc>
              <a:buNone/>
            </a:pPr>
            <a:r>
              <a:rPr lang="en-US" sz="3400" dirty="0">
                <a:solidFill>
                  <a:srgbClr val="4FCBFF"/>
                </a:solidFill>
                <a:latin typeface="Big Shoulders ExtraBold" pitchFamily="34" charset="0"/>
                <a:ea typeface="Big Shoulders ExtraBold" pitchFamily="34" charset="-122"/>
                <a:cs typeface="Big Shoulders ExtraBold" pitchFamily="34" charset="0"/>
              </a:rPr>
              <a:t>SUPERVISED</a:t>
            </a:r>
            <a:endParaRPr lang="en-US" sz="3400" dirty="0"/>
          </a:p>
        </p:txBody>
      </p:sp>
      <p:sp>
        <p:nvSpPr>
          <p:cNvPr id="4" name="Text 2"/>
          <p:cNvSpPr/>
          <p:nvPr/>
        </p:nvSpPr>
        <p:spPr>
          <a:xfrm>
            <a:off x="888978" y="3384649"/>
            <a:ext cx="30987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Learn from labeled examples.</a:t>
            </a:r>
            <a:endParaRPr lang="en-US" sz="1800" dirty="0"/>
          </a:p>
        </p:txBody>
      </p:sp>
      <p:sp>
        <p:nvSpPr>
          <p:cNvPr id="5" name="Text 3"/>
          <p:cNvSpPr/>
          <p:nvPr/>
        </p:nvSpPr>
        <p:spPr>
          <a:xfrm>
            <a:off x="888978" y="4137997"/>
            <a:ext cx="3378115" cy="198041"/>
          </a:xfrm>
          <a:prstGeom prst="rect">
            <a:avLst/>
          </a:prstGeom>
          <a:noFill/>
          <a:ln/>
        </p:spPr>
        <p:txBody>
          <a:bodyPr wrap="none" lIns="0" tIns="0" rIns="0" bIns="0" rtlCol="0" anchor="t"/>
          <a:lstStyle/>
          <a:p>
            <a:pPr algn="l" indent="0" marL="0">
              <a:lnSpc>
                <a:spcPct val="108000"/>
              </a:lnSpc>
              <a:buNone/>
            </a:pPr>
            <a:r>
              <a:rPr lang="en-US" sz="1200" dirty="0">
                <a:solidFill>
                  <a:srgbClr val="C4B8D2"/>
                </a:solidFill>
                <a:latin typeface="Onest" pitchFamily="34" charset="0"/>
                <a:ea typeface="Onest" pitchFamily="34" charset="-122"/>
                <a:cs typeface="Onest" pitchFamily="34" charset="0"/>
              </a:rPr>
              <a:t>An email is marked “spam” or “not spam.”</a:t>
            </a:r>
            <a:endParaRPr lang="en-US" sz="1200" dirty="0"/>
          </a:p>
        </p:txBody>
      </p:sp>
      <p:sp>
        <p:nvSpPr>
          <p:cNvPr id="6" name="Text 4"/>
          <p:cNvSpPr/>
          <p:nvPr/>
        </p:nvSpPr>
        <p:spPr>
          <a:xfrm>
            <a:off x="4546486" y="2865172"/>
            <a:ext cx="3098722" cy="410170"/>
          </a:xfrm>
          <a:prstGeom prst="rect">
            <a:avLst/>
          </a:prstGeom>
          <a:noFill/>
          <a:ln/>
        </p:spPr>
        <p:txBody>
          <a:bodyPr wrap="none" lIns="0" tIns="0" rIns="0" bIns="0" rtlCol="0" anchor="t"/>
          <a:lstStyle/>
          <a:p>
            <a:pPr algn="l" indent="0" marL="0">
              <a:lnSpc>
                <a:spcPct val="79000"/>
              </a:lnSpc>
              <a:buNone/>
            </a:pPr>
            <a:r>
              <a:rPr lang="en-US" sz="3400" dirty="0">
                <a:solidFill>
                  <a:srgbClr val="58E6B0"/>
                </a:solidFill>
                <a:latin typeface="Big Shoulders ExtraBold" pitchFamily="34" charset="0"/>
                <a:ea typeface="Big Shoulders ExtraBold" pitchFamily="34" charset="-122"/>
                <a:cs typeface="Big Shoulders ExtraBold" pitchFamily="34" charset="0"/>
              </a:rPr>
              <a:t>UNSUPERVISED</a:t>
            </a:r>
            <a:endParaRPr lang="en-US" sz="3400" dirty="0"/>
          </a:p>
        </p:txBody>
      </p:sp>
      <p:sp>
        <p:nvSpPr>
          <p:cNvPr id="7" name="Text 5"/>
          <p:cNvSpPr/>
          <p:nvPr/>
        </p:nvSpPr>
        <p:spPr>
          <a:xfrm>
            <a:off x="4546486" y="3384649"/>
            <a:ext cx="30987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Find structure without supplied labels.</a:t>
            </a:r>
            <a:endParaRPr lang="en-US" sz="1800" dirty="0"/>
          </a:p>
        </p:txBody>
      </p:sp>
      <p:sp>
        <p:nvSpPr>
          <p:cNvPr id="8" name="Text 6"/>
          <p:cNvSpPr/>
          <p:nvPr/>
        </p:nvSpPr>
        <p:spPr>
          <a:xfrm>
            <a:off x="4546486" y="4137997"/>
            <a:ext cx="3378115" cy="198041"/>
          </a:xfrm>
          <a:prstGeom prst="rect">
            <a:avLst/>
          </a:prstGeom>
          <a:noFill/>
          <a:ln/>
        </p:spPr>
        <p:txBody>
          <a:bodyPr wrap="none" lIns="0" tIns="0" rIns="0" bIns="0" rtlCol="0" anchor="t"/>
          <a:lstStyle/>
          <a:p>
            <a:pPr algn="l" indent="0" marL="0">
              <a:lnSpc>
                <a:spcPct val="108000"/>
              </a:lnSpc>
              <a:buNone/>
            </a:pPr>
            <a:r>
              <a:rPr lang="en-US" sz="1200" dirty="0">
                <a:solidFill>
                  <a:srgbClr val="C4B8D2"/>
                </a:solidFill>
                <a:latin typeface="Onest" pitchFamily="34" charset="0"/>
                <a:ea typeface="Onest" pitchFamily="34" charset="-122"/>
                <a:cs typeface="Onest" pitchFamily="34" charset="0"/>
              </a:rPr>
              <a:t>Group similar documents into clusters.</a:t>
            </a:r>
            <a:endParaRPr lang="en-US" sz="1200" dirty="0"/>
          </a:p>
        </p:txBody>
      </p:sp>
      <p:sp>
        <p:nvSpPr>
          <p:cNvPr id="9" name="Text 7"/>
          <p:cNvSpPr/>
          <p:nvPr/>
        </p:nvSpPr>
        <p:spPr>
          <a:xfrm>
            <a:off x="8203995" y="2865172"/>
            <a:ext cx="3098722" cy="410170"/>
          </a:xfrm>
          <a:prstGeom prst="rect">
            <a:avLst/>
          </a:prstGeom>
          <a:noFill/>
          <a:ln/>
        </p:spPr>
        <p:txBody>
          <a:bodyPr wrap="none" lIns="0" tIns="0" rIns="0" bIns="0" rtlCol="0" anchor="t"/>
          <a:lstStyle/>
          <a:p>
            <a:pPr algn="l" indent="0" marL="0">
              <a:lnSpc>
                <a:spcPct val="79000"/>
              </a:lnSpc>
              <a:buNone/>
            </a:pPr>
            <a:r>
              <a:rPr lang="en-US" sz="3400" dirty="0">
                <a:solidFill>
                  <a:srgbClr val="7CEBFF"/>
                </a:solidFill>
                <a:latin typeface="Big Shoulders ExtraBold" pitchFamily="34" charset="0"/>
                <a:ea typeface="Big Shoulders ExtraBold" pitchFamily="34" charset="-122"/>
                <a:cs typeface="Big Shoulders ExtraBold" pitchFamily="34" charset="0"/>
              </a:rPr>
              <a:t>REINFORCEMENT</a:t>
            </a:r>
            <a:endParaRPr lang="en-US" sz="3400" dirty="0"/>
          </a:p>
        </p:txBody>
      </p:sp>
      <p:sp>
        <p:nvSpPr>
          <p:cNvPr id="10" name="Text 8"/>
          <p:cNvSpPr/>
          <p:nvPr/>
        </p:nvSpPr>
        <p:spPr>
          <a:xfrm>
            <a:off x="8203995" y="3384649"/>
            <a:ext cx="3098722"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Learn through actions and rewards.</a:t>
            </a:r>
            <a:endParaRPr lang="en-US" sz="1800" dirty="0"/>
          </a:p>
        </p:txBody>
      </p:sp>
      <p:sp>
        <p:nvSpPr>
          <p:cNvPr id="11" name="Text 9"/>
          <p:cNvSpPr/>
          <p:nvPr/>
        </p:nvSpPr>
        <p:spPr>
          <a:xfrm>
            <a:off x="8203995" y="4137997"/>
            <a:ext cx="3378115" cy="198041"/>
          </a:xfrm>
          <a:prstGeom prst="rect">
            <a:avLst/>
          </a:prstGeom>
          <a:noFill/>
          <a:ln/>
        </p:spPr>
        <p:txBody>
          <a:bodyPr wrap="none" lIns="0" tIns="0" rIns="0" bIns="0" rtlCol="0" anchor="t"/>
          <a:lstStyle/>
          <a:p>
            <a:pPr algn="l" indent="0" marL="0">
              <a:lnSpc>
                <a:spcPct val="108000"/>
              </a:lnSpc>
              <a:buNone/>
            </a:pPr>
            <a:r>
              <a:rPr lang="en-US" sz="1200" dirty="0">
                <a:solidFill>
                  <a:srgbClr val="C4B8D2"/>
                </a:solidFill>
                <a:latin typeface="Onest" pitchFamily="34" charset="0"/>
                <a:ea typeface="Onest" pitchFamily="34" charset="-122"/>
                <a:cs typeface="Onest" pitchFamily="34" charset="0"/>
              </a:rPr>
              <a:t>Improve a game strategy through trial.</a:t>
            </a:r>
            <a:endParaRPr lang="en-US" sz="1200" dirty="0"/>
          </a:p>
        </p:txBody>
      </p:sp>
      <p:sp>
        <p:nvSpPr>
          <p:cNvPr id="12" name="Text 10"/>
          <p:cNvSpPr/>
          <p:nvPr/>
        </p:nvSpPr>
        <p:spPr>
          <a:xfrm>
            <a:off x="609585" y="6104017"/>
            <a:ext cx="11582110" cy="198041"/>
          </a:xfrm>
          <a:prstGeom prst="rect">
            <a:avLst/>
          </a:prstGeom>
          <a:noFill/>
          <a:ln/>
        </p:spPr>
        <p:txBody>
          <a:bodyPr wrap="none" lIns="0" tIns="0" rIns="0" bIns="0" rtlCol="0" anchor="t"/>
          <a:lstStyle/>
          <a:p>
            <a:pPr algn="l" indent="0" marL="0">
              <a:lnSpc>
                <a:spcPct val="108000"/>
              </a:lnSpc>
              <a:buNone/>
            </a:pPr>
            <a:r>
              <a:rPr lang="en-US" sz="1200" dirty="0">
                <a:solidFill>
                  <a:srgbClr val="C4B8D2"/>
                </a:solidFill>
                <a:latin typeface="Onest" pitchFamily="34" charset="0"/>
                <a:ea typeface="Onest" pitchFamily="34" charset="-122"/>
                <a:cs typeface="Onest" pitchFamily="34" charset="0"/>
              </a:rPr>
              <a:t>The distinction is the learning signal: answers, structure, or reward.</a:t>
            </a:r>
            <a:endParaRPr lang="en-US" sz="1200" dirty="0"/>
          </a:p>
        </p:txBody>
      </p:sp>
      <p:sp>
        <p:nvSpPr>
          <p:cNvPr id="13" name="Shape 11"/>
          <p:cNvSpPr/>
          <p:nvPr/>
        </p:nvSpPr>
        <p:spPr>
          <a:xfrm>
            <a:off x="4254394" y="2529979"/>
            <a:ext cx="25399" cy="2082602"/>
          </a:xfrm>
          <a:prstGeom prst="rect">
            <a:avLst/>
          </a:prstGeom>
          <a:solidFill>
            <a:srgbClr val="25465A"/>
          </a:solidFill>
          <a:ln/>
        </p:spPr>
      </p:sp>
      <p:sp>
        <p:nvSpPr>
          <p:cNvPr id="14" name="Shape 12"/>
          <p:cNvSpPr/>
          <p:nvPr/>
        </p:nvSpPr>
        <p:spPr>
          <a:xfrm>
            <a:off x="7911902" y="2529979"/>
            <a:ext cx="25399" cy="2082602"/>
          </a:xfrm>
          <a:prstGeom prst="rect">
            <a:avLst/>
          </a:prstGeom>
          <a:solidFill>
            <a:srgbClr val="25465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58786" y="609600"/>
            <a:ext cx="3352716" cy="5638800"/>
          </a:xfrm>
          <a:prstGeom prst="rect">
            <a:avLst/>
          </a:prstGeom>
        </p:spPr>
      </p:pic>
      <p:sp>
        <p:nvSpPr>
          <p:cNvPr id="3" name="Text 0"/>
          <p:cNvSpPr/>
          <p:nvPr/>
        </p:nvSpPr>
        <p:spPr>
          <a:xfrm>
            <a:off x="4419489" y="622300"/>
            <a:ext cx="7162621" cy="965200"/>
          </a:xfrm>
          <a:prstGeom prst="rect">
            <a:avLst/>
          </a:prstGeom>
          <a:noFill/>
          <a:ln/>
        </p:spPr>
        <p:txBody>
          <a:bodyPr wrap="square" lIns="0" tIns="0" rIns="0" bIns="0" rtlCol="0" anchor="t">
            <a:normAutofit/>
          </a:bodyPr>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GENERATIVE AI PREDICTS THE NEXT PIECE OF CONTENT</a:t>
            </a:r>
            <a:endParaRPr lang="en-US" sz="4000" dirty="0"/>
          </a:p>
        </p:txBody>
      </p:sp>
      <p:sp>
        <p:nvSpPr>
          <p:cNvPr id="4" name="Shape 1"/>
          <p:cNvSpPr/>
          <p:nvPr/>
        </p:nvSpPr>
        <p:spPr>
          <a:xfrm>
            <a:off x="4419489" y="1752600"/>
            <a:ext cx="3428914" cy="4031655"/>
          </a:xfrm>
          <a:prstGeom prst="roundRect">
            <a:avLst>
              <a:gd name="adj" fmla="val 7111"/>
            </a:avLst>
          </a:prstGeom>
          <a:solidFill>
            <a:srgbClr val="0C2637"/>
          </a:solidFill>
          <a:ln/>
        </p:spPr>
      </p:sp>
      <p:sp>
        <p:nvSpPr>
          <p:cNvPr id="5" name="Text 2"/>
          <p:cNvSpPr/>
          <p:nvPr/>
        </p:nvSpPr>
        <p:spPr>
          <a:xfrm>
            <a:off x="4648084" y="2026264"/>
            <a:ext cx="2971726"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LANGUAGE</a:t>
            </a:r>
            <a:endParaRPr lang="en-US" sz="2800" dirty="0"/>
          </a:p>
        </p:txBody>
      </p:sp>
      <p:sp>
        <p:nvSpPr>
          <p:cNvPr id="6" name="Text 3"/>
          <p:cNvSpPr/>
          <p:nvPr/>
        </p:nvSpPr>
        <p:spPr>
          <a:xfrm>
            <a:off x="4648084" y="2484041"/>
            <a:ext cx="2971726"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Large language models predict tokens: pieces of text.</a:t>
            </a:r>
            <a:endParaRPr lang="en-US" sz="1800" dirty="0"/>
          </a:p>
        </p:txBody>
      </p:sp>
      <p:sp>
        <p:nvSpPr>
          <p:cNvPr id="7" name="Text 4"/>
          <p:cNvSpPr/>
          <p:nvPr/>
        </p:nvSpPr>
        <p:spPr>
          <a:xfrm>
            <a:off x="4648084" y="3543102"/>
            <a:ext cx="2971726"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FFFFFF"/>
                </a:solidFill>
                <a:latin typeface="Onest" pitchFamily="34" charset="0"/>
                <a:ea typeface="Onest" pitchFamily="34" charset="-122"/>
                <a:cs typeface="Onest" pitchFamily="34" charset="0"/>
              </a:rPr>
              <a:t>Transformers use attention to weigh relevant context.</a:t>
            </a:r>
            <a:endParaRPr lang="en-US" sz="1400" dirty="0"/>
          </a:p>
        </p:txBody>
      </p:sp>
      <p:sp>
        <p:nvSpPr>
          <p:cNvPr id="8" name="Shape 5"/>
          <p:cNvSpPr/>
          <p:nvPr/>
        </p:nvSpPr>
        <p:spPr>
          <a:xfrm>
            <a:off x="8153196" y="1752600"/>
            <a:ext cx="3428914" cy="4031655"/>
          </a:xfrm>
          <a:prstGeom prst="roundRect">
            <a:avLst>
              <a:gd name="adj" fmla="val 7111"/>
            </a:avLst>
          </a:prstGeom>
          <a:solidFill>
            <a:srgbClr val="10372F"/>
          </a:solidFill>
          <a:ln/>
        </p:spPr>
      </p:sp>
      <p:sp>
        <p:nvSpPr>
          <p:cNvPr id="9" name="Text 6"/>
          <p:cNvSpPr/>
          <p:nvPr/>
        </p:nvSpPr>
        <p:spPr>
          <a:xfrm>
            <a:off x="8381790" y="2026264"/>
            <a:ext cx="2971726"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IMAGES</a:t>
            </a:r>
            <a:endParaRPr lang="en-US" sz="2800" dirty="0"/>
          </a:p>
        </p:txBody>
      </p:sp>
      <p:sp>
        <p:nvSpPr>
          <p:cNvPr id="10" name="Text 7"/>
          <p:cNvSpPr/>
          <p:nvPr/>
        </p:nvSpPr>
        <p:spPr>
          <a:xfrm>
            <a:off x="8381790" y="2484041"/>
            <a:ext cx="2971726"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Diffusion models learn to remove noise step by step.</a:t>
            </a:r>
            <a:endParaRPr lang="en-US" sz="1800" dirty="0"/>
          </a:p>
        </p:txBody>
      </p:sp>
      <p:sp>
        <p:nvSpPr>
          <p:cNvPr id="11" name="Text 8"/>
          <p:cNvSpPr/>
          <p:nvPr/>
        </p:nvSpPr>
        <p:spPr>
          <a:xfrm>
            <a:off x="8381790" y="3234531"/>
            <a:ext cx="2971726" cy="480020"/>
          </a:xfrm>
          <a:prstGeom prst="rect">
            <a:avLst/>
          </a:prstGeom>
          <a:noFill/>
          <a:ln/>
        </p:spPr>
        <p:txBody>
          <a:bodyPr wrap="square" lIns="0" tIns="0" rIns="0" bIns="0" rtlCol="0" anchor="t">
            <a:normAutofit/>
          </a:bodyPr>
          <a:lstStyle/>
          <a:p>
            <a:pPr algn="l" indent="0" marL="0">
              <a:lnSpc>
                <a:spcPct val="112000"/>
              </a:lnSpc>
              <a:buNone/>
            </a:pPr>
            <a:r>
              <a:rPr lang="en-US" sz="1400" dirty="0">
                <a:solidFill>
                  <a:srgbClr val="FFFFFF"/>
                </a:solidFill>
                <a:latin typeface="Onest" pitchFamily="34" charset="0"/>
                <a:ea typeface="Onest" pitchFamily="34" charset="-122"/>
                <a:cs typeface="Onest" pitchFamily="34" charset="0"/>
              </a:rPr>
              <a:t>A prompt guides the image that emerges.</a:t>
            </a:r>
            <a:endParaRPr lang="en-US" sz="1400" dirty="0"/>
          </a:p>
        </p:txBody>
      </p:sp>
      <p:sp>
        <p:nvSpPr>
          <p:cNvPr id="12" name="Text 9"/>
          <p:cNvSpPr/>
          <p:nvPr/>
        </p:nvSpPr>
        <p:spPr>
          <a:xfrm>
            <a:off x="4419489" y="5990630"/>
            <a:ext cx="7772206" cy="308570"/>
          </a:xfrm>
          <a:prstGeom prst="rect">
            <a:avLst/>
          </a:prstGeom>
          <a:noFill/>
          <a:ln/>
        </p:spPr>
        <p:txBody>
          <a:bodyPr wrap="none" lIns="0" tIns="0" rIns="0" bIns="0" rtlCol="0" anchor="t"/>
          <a:lstStyle/>
          <a:p>
            <a:pPr algn="l" indent="0" marL="0">
              <a:lnSpc>
                <a:spcPct val="113000"/>
              </a:lnSpc>
              <a:buNone/>
            </a:pPr>
            <a:r>
              <a:rPr lang="en-US" sz="1800" b="1" dirty="0">
                <a:solidFill>
                  <a:srgbClr val="F4EEF8"/>
                </a:solidFill>
                <a:latin typeface="Onest Bold" pitchFamily="34" charset="0"/>
                <a:ea typeface="Onest Bold" pitchFamily="34" charset="-122"/>
                <a:cs typeface="Onest Bold" pitchFamily="34" charset="0"/>
              </a:rPr>
              <a:t>Fluent output is not always true output.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2300"/>
            <a:ext cx="7162621"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AI ACROSS EVERYDAY LIFE</a:t>
            </a:r>
            <a:endParaRPr lang="en-US" sz="4000" dirty="0"/>
          </a:p>
        </p:txBody>
      </p:sp>
      <p:sp>
        <p:nvSpPr>
          <p:cNvPr id="3" name="Text 1"/>
          <p:cNvSpPr/>
          <p:nvPr/>
        </p:nvSpPr>
        <p:spPr>
          <a:xfrm>
            <a:off x="609585" y="1543664"/>
            <a:ext cx="7162621" cy="337741"/>
          </a:xfrm>
          <a:prstGeom prst="rect">
            <a:avLst/>
          </a:prstGeom>
          <a:noFill/>
          <a:ln/>
        </p:spPr>
        <p:txBody>
          <a:bodyPr wrap="none" lIns="0" tIns="0" rIns="0" bIns="0" rtlCol="0" anchor="t"/>
          <a:lstStyle/>
          <a:p>
            <a:pPr algn="l" indent="0" marL="0">
              <a:lnSpc>
                <a:spcPct val="79000"/>
              </a:lnSpc>
              <a:buNone/>
            </a:pPr>
            <a:r>
              <a:rPr lang="en-US" sz="2800" dirty="0">
                <a:solidFill>
                  <a:srgbClr val="4FCBFF"/>
                </a:solidFill>
                <a:latin typeface="Big Shoulders ExtraBold" pitchFamily="34" charset="0"/>
                <a:ea typeface="Big Shoulders ExtraBold" pitchFamily="34" charset="-122"/>
                <a:cs typeface="Big Shoulders ExtraBold" pitchFamily="34" charset="0"/>
              </a:rPr>
              <a:t>HEALTH</a:t>
            </a:r>
            <a:endParaRPr lang="en-US" sz="2800" dirty="0"/>
          </a:p>
        </p:txBody>
      </p:sp>
      <p:sp>
        <p:nvSpPr>
          <p:cNvPr id="4" name="Text 2"/>
          <p:cNvSpPr/>
          <p:nvPr/>
        </p:nvSpPr>
        <p:spPr>
          <a:xfrm>
            <a:off x="609585" y="2001441"/>
            <a:ext cx="7162621" cy="308570"/>
          </a:xfrm>
          <a:prstGeom prst="rect">
            <a:avLst/>
          </a:prstGeom>
          <a:noFill/>
          <a:ln/>
        </p:spPr>
        <p:txBody>
          <a:bodyPr wrap="none" lIns="0" tIns="0" rIns="0" bIns="0" rtlCol="0" anchor="t"/>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Support medical imaging and drug discovery.</a:t>
            </a:r>
            <a:endParaRPr lang="en-US" sz="1800" dirty="0"/>
          </a:p>
        </p:txBody>
      </p:sp>
      <p:sp>
        <p:nvSpPr>
          <p:cNvPr id="5" name="Text 3"/>
          <p:cNvSpPr/>
          <p:nvPr/>
        </p:nvSpPr>
        <p:spPr>
          <a:xfrm>
            <a:off x="609585" y="3220064"/>
            <a:ext cx="7162621" cy="337741"/>
          </a:xfrm>
          <a:prstGeom prst="rect">
            <a:avLst/>
          </a:prstGeom>
          <a:noFill/>
          <a:ln/>
        </p:spPr>
        <p:txBody>
          <a:bodyPr wrap="none" lIns="0" tIns="0" rIns="0" bIns="0" rtlCol="0" anchor="t"/>
          <a:lstStyle/>
          <a:p>
            <a:pPr algn="l" indent="0" marL="0">
              <a:lnSpc>
                <a:spcPct val="79000"/>
              </a:lnSpc>
              <a:buNone/>
            </a:pPr>
            <a:r>
              <a:rPr lang="en-US" sz="2800" dirty="0">
                <a:solidFill>
                  <a:srgbClr val="58E6B0"/>
                </a:solidFill>
                <a:latin typeface="Big Shoulders ExtraBold" pitchFamily="34" charset="0"/>
                <a:ea typeface="Big Shoulders ExtraBold" pitchFamily="34" charset="-122"/>
                <a:cs typeface="Big Shoulders ExtraBold" pitchFamily="34" charset="0"/>
              </a:rPr>
              <a:t>EVERYDAY TOOLS</a:t>
            </a:r>
            <a:endParaRPr lang="en-US" sz="2800" dirty="0"/>
          </a:p>
        </p:txBody>
      </p:sp>
      <p:sp>
        <p:nvSpPr>
          <p:cNvPr id="6" name="Text 4"/>
          <p:cNvSpPr/>
          <p:nvPr/>
        </p:nvSpPr>
        <p:spPr>
          <a:xfrm>
            <a:off x="609585" y="3677841"/>
            <a:ext cx="7162621" cy="308570"/>
          </a:xfrm>
          <a:prstGeom prst="rect">
            <a:avLst/>
          </a:prstGeom>
          <a:noFill/>
          <a:ln/>
        </p:spPr>
        <p:txBody>
          <a:bodyPr wrap="none" lIns="0" tIns="0" rIns="0" bIns="0" rtlCol="0" anchor="t"/>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Improve search, translation, and assistants.</a:t>
            </a:r>
            <a:endParaRPr lang="en-US" sz="1800" dirty="0"/>
          </a:p>
        </p:txBody>
      </p:sp>
      <p:sp>
        <p:nvSpPr>
          <p:cNvPr id="7" name="Text 5"/>
          <p:cNvSpPr/>
          <p:nvPr/>
        </p:nvSpPr>
        <p:spPr>
          <a:xfrm>
            <a:off x="609585" y="4896464"/>
            <a:ext cx="7162621" cy="337741"/>
          </a:xfrm>
          <a:prstGeom prst="rect">
            <a:avLst/>
          </a:prstGeom>
          <a:noFill/>
          <a:ln/>
        </p:spPr>
        <p:txBody>
          <a:bodyPr wrap="none" lIns="0" tIns="0" rIns="0" bIns="0" rtlCol="0" anchor="t"/>
          <a:lstStyle/>
          <a:p>
            <a:pPr algn="l" indent="0" marL="0">
              <a:lnSpc>
                <a:spcPct val="79000"/>
              </a:lnSpc>
              <a:buNone/>
            </a:pPr>
            <a:r>
              <a:rPr lang="en-US" sz="2800" dirty="0">
                <a:solidFill>
                  <a:srgbClr val="7CEBFF"/>
                </a:solidFill>
                <a:latin typeface="Big Shoulders ExtraBold" pitchFamily="34" charset="0"/>
                <a:ea typeface="Big Shoulders ExtraBold" pitchFamily="34" charset="-122"/>
                <a:cs typeface="Big Shoulders ExtraBold" pitchFamily="34" charset="0"/>
              </a:rPr>
              <a:t>SCIENCE &amp; LEARNING</a:t>
            </a:r>
            <a:endParaRPr lang="en-US" sz="2800" dirty="0"/>
          </a:p>
        </p:txBody>
      </p:sp>
      <p:sp>
        <p:nvSpPr>
          <p:cNvPr id="8" name="Text 6"/>
          <p:cNvSpPr/>
          <p:nvPr/>
        </p:nvSpPr>
        <p:spPr>
          <a:xfrm>
            <a:off x="609585" y="5354241"/>
            <a:ext cx="7162621" cy="308570"/>
          </a:xfrm>
          <a:prstGeom prst="rect">
            <a:avLst/>
          </a:prstGeom>
          <a:noFill/>
          <a:ln/>
        </p:spPr>
        <p:txBody>
          <a:bodyPr wrap="none" lIns="0" tIns="0" rIns="0" bIns="0" rtlCol="0" anchor="t"/>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Explore scientific models and personalize education.</a:t>
            </a:r>
            <a:endParaRPr lang="en-US" sz="1800" dirty="0"/>
          </a:p>
        </p:txBody>
      </p:sp>
      <p:pic>
        <p:nvPicPr>
          <p:cNvPr id="9" name="Image 0" descr="preencoded.png">    </p:cNvPr>
          <p:cNvPicPr>
            <a:picLocks noChangeAspect="1"/>
          </p:cNvPicPr>
          <p:nvPr/>
        </p:nvPicPr>
        <p:blipFill>
          <a:blip r:embed="rId1"/>
          <a:stretch>
            <a:fillRect/>
          </a:stretch>
        </p:blipFill>
        <p:spPr>
          <a:xfrm>
            <a:off x="8127797" y="0"/>
            <a:ext cx="4063898" cy="6858000"/>
          </a:xfrm>
          <a:prstGeom prst="rect">
            <a:avLst/>
          </a:prstGeom>
        </p:spPr>
      </p:pic>
      <p:sp>
        <p:nvSpPr>
          <p:cNvPr id="10" name="Shape 7"/>
          <p:cNvSpPr/>
          <p:nvPr/>
        </p:nvSpPr>
        <p:spPr>
          <a:xfrm>
            <a:off x="609585" y="2940050"/>
            <a:ext cx="7162621" cy="12700"/>
          </a:xfrm>
          <a:prstGeom prst="rect">
            <a:avLst/>
          </a:prstGeom>
          <a:solidFill>
            <a:srgbClr val="25465A"/>
          </a:solidFill>
          <a:ln/>
        </p:spPr>
      </p:sp>
      <p:sp>
        <p:nvSpPr>
          <p:cNvPr id="11" name="Shape 8"/>
          <p:cNvSpPr/>
          <p:nvPr/>
        </p:nvSpPr>
        <p:spPr>
          <a:xfrm>
            <a:off x="609585" y="4616450"/>
            <a:ext cx="7162621" cy="12700"/>
          </a:xfrm>
          <a:prstGeom prst="rect">
            <a:avLst/>
          </a:prstGeom>
          <a:solidFill>
            <a:srgbClr val="25465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22300"/>
            <a:ext cx="10972526" cy="482600"/>
          </a:xfrm>
          <a:prstGeom prst="rect">
            <a:avLst/>
          </a:prstGeom>
          <a:noFill/>
          <a:ln/>
        </p:spPr>
        <p:txBody>
          <a:bodyPr wrap="none" lIns="0" tIns="0" rIns="0" bIns="0" rtlCol="0" anchor="t"/>
          <a:lstStyle/>
          <a:p>
            <a:pPr algn="l" indent="0" marL="0">
              <a:lnSpc>
                <a:spcPct val="79000"/>
              </a:lnSpc>
              <a:buNone/>
            </a:pPr>
            <a:r>
              <a:rPr lang="en-US" sz="4000" dirty="0">
                <a:solidFill>
                  <a:srgbClr val="FFFFFF"/>
                </a:solidFill>
                <a:latin typeface="Big Shoulders ExtraBold" pitchFamily="34" charset="0"/>
                <a:ea typeface="Big Shoulders ExtraBold" pitchFamily="34" charset="-122"/>
                <a:cs typeface="Big Shoulders ExtraBold" pitchFamily="34" charset="0"/>
              </a:rPr>
              <a:t>BENEFITS AND RISKS</a:t>
            </a:r>
            <a:endParaRPr lang="en-US" sz="4000" dirty="0"/>
          </a:p>
        </p:txBody>
      </p:sp>
      <p:sp>
        <p:nvSpPr>
          <p:cNvPr id="3" name="Shape 1"/>
          <p:cNvSpPr/>
          <p:nvPr/>
        </p:nvSpPr>
        <p:spPr>
          <a:xfrm>
            <a:off x="609585" y="1270000"/>
            <a:ext cx="5333867" cy="4514255"/>
          </a:xfrm>
          <a:prstGeom prst="roundRect">
            <a:avLst>
              <a:gd name="adj" fmla="val 5401"/>
            </a:avLst>
          </a:prstGeom>
          <a:solidFill>
            <a:srgbClr val="10372F"/>
          </a:solidFill>
          <a:ln w="25399">
            <a:solidFill>
              <a:srgbClr val="58E6B0"/>
            </a:solidFill>
            <a:prstDash val="solid"/>
          </a:ln>
        </p:spPr>
      </p:sp>
      <p:sp>
        <p:nvSpPr>
          <p:cNvPr id="4" name="Text 2"/>
          <p:cNvSpPr/>
          <p:nvPr/>
        </p:nvSpPr>
        <p:spPr>
          <a:xfrm>
            <a:off x="965176" y="1670664"/>
            <a:ext cx="4622684" cy="337741"/>
          </a:xfrm>
          <a:prstGeom prst="rect">
            <a:avLst/>
          </a:prstGeom>
          <a:noFill/>
          <a:ln/>
        </p:spPr>
        <p:txBody>
          <a:bodyPr wrap="none" lIns="0" tIns="0" rIns="0" bIns="0" rtlCol="0" anchor="t"/>
          <a:lstStyle/>
          <a:p>
            <a:pPr algn="l" indent="0" marL="0">
              <a:lnSpc>
                <a:spcPct val="79000"/>
              </a:lnSpc>
              <a:buNone/>
            </a:pPr>
            <a:r>
              <a:rPr lang="en-US" sz="2800" dirty="0">
                <a:solidFill>
                  <a:srgbClr val="58E6B0"/>
                </a:solidFill>
                <a:latin typeface="Big Shoulders ExtraBold" pitchFamily="34" charset="0"/>
                <a:ea typeface="Big Shoulders ExtraBold" pitchFamily="34" charset="-122"/>
                <a:cs typeface="Big Shoulders ExtraBold" pitchFamily="34" charset="0"/>
              </a:rPr>
              <a:t>BENEFITS</a:t>
            </a:r>
            <a:endParaRPr lang="en-US" sz="2800" dirty="0"/>
          </a:p>
        </p:txBody>
      </p:sp>
      <p:sp>
        <p:nvSpPr>
          <p:cNvPr id="5" name="Text 3"/>
          <p:cNvSpPr/>
          <p:nvPr/>
        </p:nvSpPr>
        <p:spPr>
          <a:xfrm>
            <a:off x="965176" y="2128441"/>
            <a:ext cx="4622684" cy="140573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Speed up routine work</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Operate at large scale</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Improve accessibility</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Support new discoveries</a:t>
            </a:r>
            <a:endParaRPr lang="en-US" sz="1800" dirty="0"/>
          </a:p>
        </p:txBody>
      </p:sp>
      <p:sp>
        <p:nvSpPr>
          <p:cNvPr id="6" name="Shape 4"/>
          <p:cNvSpPr/>
          <p:nvPr/>
        </p:nvSpPr>
        <p:spPr>
          <a:xfrm>
            <a:off x="6248244" y="1270000"/>
            <a:ext cx="5333867" cy="4514255"/>
          </a:xfrm>
          <a:prstGeom prst="roundRect">
            <a:avLst>
              <a:gd name="adj" fmla="val 5401"/>
            </a:avLst>
          </a:prstGeom>
          <a:solidFill>
            <a:srgbClr val="0C2637"/>
          </a:solidFill>
          <a:ln w="25399">
            <a:solidFill>
              <a:srgbClr val="4FCBFF"/>
            </a:solidFill>
            <a:prstDash val="solid"/>
          </a:ln>
        </p:spPr>
      </p:sp>
      <p:sp>
        <p:nvSpPr>
          <p:cNvPr id="7" name="Text 5"/>
          <p:cNvSpPr/>
          <p:nvPr/>
        </p:nvSpPr>
        <p:spPr>
          <a:xfrm>
            <a:off x="6603835" y="1670664"/>
            <a:ext cx="4622684" cy="337741"/>
          </a:xfrm>
          <a:prstGeom prst="rect">
            <a:avLst/>
          </a:prstGeom>
          <a:noFill/>
          <a:ln/>
        </p:spPr>
        <p:txBody>
          <a:bodyPr wrap="none" lIns="0" tIns="0" rIns="0" bIns="0" rtlCol="0" anchor="t"/>
          <a:lstStyle/>
          <a:p>
            <a:pPr algn="l" indent="0" marL="0">
              <a:lnSpc>
                <a:spcPct val="79000"/>
              </a:lnSpc>
              <a:buNone/>
            </a:pPr>
            <a:r>
              <a:rPr lang="en-US" sz="2800" dirty="0">
                <a:solidFill>
                  <a:srgbClr val="4FCBFF"/>
                </a:solidFill>
                <a:latin typeface="Big Shoulders ExtraBold" pitchFamily="34" charset="0"/>
                <a:ea typeface="Big Shoulders ExtraBold" pitchFamily="34" charset="-122"/>
                <a:cs typeface="Big Shoulders ExtraBold" pitchFamily="34" charset="0"/>
              </a:rPr>
              <a:t>RISKS</a:t>
            </a:r>
            <a:endParaRPr lang="en-US" sz="2800" dirty="0"/>
          </a:p>
        </p:txBody>
      </p:sp>
      <p:sp>
        <p:nvSpPr>
          <p:cNvPr id="8" name="Text 6"/>
          <p:cNvSpPr/>
          <p:nvPr/>
        </p:nvSpPr>
        <p:spPr>
          <a:xfrm>
            <a:off x="6603835" y="2128441"/>
            <a:ext cx="4622684" cy="1405731"/>
          </a:xfrm>
          <a:prstGeom prst="rect">
            <a:avLst/>
          </a:prstGeom>
          <a:noFill/>
          <a:ln/>
        </p:spPr>
        <p:txBody>
          <a:bodyPr wrap="square" lIns="0" tIns="0" rIns="0" bIns="0" rtlCol="0" anchor="t">
            <a:normAutofit/>
          </a:bodyPr>
          <a:lstStyle/>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Reproduce bias</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Invent plausible falsehoods</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Expose private information</a:t>
            </a:r>
            <a:endParaRPr lang="en-US" sz="1800" dirty="0"/>
          </a:p>
          <a:p>
            <a:pPr algn="l" marL="365760" indent="-365760">
              <a:lnSpc>
                <a:spcPct val="113000"/>
              </a:lnSpc>
              <a:buSzPct val="100000"/>
              <a:buChar char="•"/>
            </a:pPr>
            <a:r>
              <a:rPr lang="en-US" sz="1800" dirty="0">
                <a:solidFill>
                  <a:srgbClr val="FFFFFF"/>
                </a:solidFill>
                <a:latin typeface="Onest" pitchFamily="34" charset="0"/>
                <a:ea typeface="Onest" pitchFamily="34" charset="-122"/>
                <a:cs typeface="Onest" pitchFamily="34" charset="0"/>
              </a:rPr>
              <a:t>Disrupt jobs and tasks</a:t>
            </a:r>
            <a:endParaRPr lang="en-US" sz="1800" dirty="0"/>
          </a:p>
        </p:txBody>
      </p:sp>
      <p:sp>
        <p:nvSpPr>
          <p:cNvPr id="9" name="Text 7"/>
          <p:cNvSpPr/>
          <p:nvPr/>
        </p:nvSpPr>
        <p:spPr>
          <a:xfrm>
            <a:off x="609585" y="5990630"/>
            <a:ext cx="11582110" cy="308570"/>
          </a:xfrm>
          <a:prstGeom prst="rect">
            <a:avLst/>
          </a:prstGeom>
          <a:noFill/>
          <a:ln/>
        </p:spPr>
        <p:txBody>
          <a:bodyPr wrap="none" lIns="0" tIns="0" rIns="0" bIns="0" rtlCol="0" anchor="t"/>
          <a:lstStyle/>
          <a:p>
            <a:pPr algn="l" indent="0" marL="0">
              <a:lnSpc>
                <a:spcPct val="113000"/>
              </a:lnSpc>
              <a:buNone/>
            </a:pPr>
            <a:r>
              <a:rPr lang="en-US" sz="1800" dirty="0">
                <a:solidFill>
                  <a:srgbClr val="F4EEF8"/>
                </a:solidFill>
                <a:latin typeface="Onest" pitchFamily="34" charset="0"/>
                <a:ea typeface="Onest" pitchFamily="34" charset="-122"/>
                <a:cs typeface="Onest" pitchFamily="34" charset="0"/>
              </a:rPr>
              <a:t>Open questions remain around safety, regulation, and energy use.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99728"/>
            <a:ext cx="10972526" cy="1351161"/>
          </a:xfrm>
          <a:prstGeom prst="rect">
            <a:avLst/>
          </a:prstGeom>
          <a:noFill/>
          <a:ln/>
        </p:spPr>
        <p:txBody>
          <a:bodyPr wrap="square" lIns="0" tIns="0" rIns="0" bIns="0" rtlCol="0" anchor="t">
            <a:normAutofit/>
          </a:bodyPr>
          <a:lstStyle/>
          <a:p>
            <a:pPr algn="l" indent="0" marL="0">
              <a:lnSpc>
                <a:spcPct val="79000"/>
              </a:lnSpc>
              <a:buNone/>
            </a:pPr>
            <a:r>
              <a:rPr lang="en-US" sz="5600" dirty="0">
                <a:solidFill>
                  <a:srgbClr val="FFFFFF"/>
                </a:solidFill>
                <a:latin typeface="Big Shoulders ExtraBold" pitchFamily="34" charset="0"/>
                <a:ea typeface="Big Shoulders ExtraBold" pitchFamily="34" charset="-122"/>
                <a:cs typeface="Big Shoulders ExtraBold" pitchFamily="34" charset="0"/>
              </a:rPr>
              <a:t>USE AI WITH CURIOSITY AND WITH JUDGMENT</a:t>
            </a:r>
            <a:endParaRPr lang="en-US" sz="5600" dirty="0"/>
          </a:p>
        </p:txBody>
      </p:sp>
      <p:sp>
        <p:nvSpPr>
          <p:cNvPr id="3" name="Shape 1"/>
          <p:cNvSpPr/>
          <p:nvPr/>
        </p:nvSpPr>
        <p:spPr>
          <a:xfrm>
            <a:off x="609585" y="4172148"/>
            <a:ext cx="3454314" cy="2076252"/>
          </a:xfrm>
          <a:prstGeom prst="roundRect">
            <a:avLst>
              <a:gd name="adj" fmla="val 11744"/>
            </a:avLst>
          </a:prstGeom>
          <a:solidFill>
            <a:srgbClr val="0C2637"/>
          </a:solidFill>
          <a:ln/>
        </p:spPr>
      </p:sp>
      <p:sp>
        <p:nvSpPr>
          <p:cNvPr id="4" name="Shape 2"/>
          <p:cNvSpPr/>
          <p:nvPr/>
        </p:nvSpPr>
        <p:spPr>
          <a:xfrm>
            <a:off x="609585" y="4172148"/>
            <a:ext cx="3454314" cy="38100"/>
          </a:xfrm>
          <a:prstGeom prst="rect">
            <a:avLst/>
          </a:prstGeom>
          <a:solidFill>
            <a:srgbClr val="FF3FA4"/>
          </a:solidFill>
          <a:ln/>
        </p:spPr>
      </p:sp>
      <p:sp>
        <p:nvSpPr>
          <p:cNvPr id="5" name="Text 3"/>
          <p:cNvSpPr/>
          <p:nvPr/>
        </p:nvSpPr>
        <p:spPr>
          <a:xfrm>
            <a:off x="914377" y="4560112"/>
            <a:ext cx="2844729"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EXPERIMENT</a:t>
            </a:r>
            <a:endParaRPr lang="en-US" sz="2800" dirty="0"/>
          </a:p>
        </p:txBody>
      </p:sp>
      <p:sp>
        <p:nvSpPr>
          <p:cNvPr id="6" name="Text 4"/>
          <p:cNvSpPr/>
          <p:nvPr/>
        </p:nvSpPr>
        <p:spPr>
          <a:xfrm>
            <a:off x="914377" y="5017889"/>
            <a:ext cx="2844729"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Try a tool on a low-stakes task you understand.</a:t>
            </a:r>
            <a:endParaRPr lang="en-US" sz="1800" dirty="0"/>
          </a:p>
        </p:txBody>
      </p:sp>
      <p:sp>
        <p:nvSpPr>
          <p:cNvPr id="7" name="Shape 5"/>
          <p:cNvSpPr/>
          <p:nvPr/>
        </p:nvSpPr>
        <p:spPr>
          <a:xfrm>
            <a:off x="4368691" y="4172148"/>
            <a:ext cx="3454314" cy="2076252"/>
          </a:xfrm>
          <a:prstGeom prst="roundRect">
            <a:avLst>
              <a:gd name="adj" fmla="val 11744"/>
            </a:avLst>
          </a:prstGeom>
          <a:solidFill>
            <a:srgbClr val="10372F"/>
          </a:solidFill>
          <a:ln/>
        </p:spPr>
      </p:sp>
      <p:sp>
        <p:nvSpPr>
          <p:cNvPr id="8" name="Shape 6"/>
          <p:cNvSpPr/>
          <p:nvPr/>
        </p:nvSpPr>
        <p:spPr>
          <a:xfrm>
            <a:off x="4368691" y="4172148"/>
            <a:ext cx="3454314" cy="38100"/>
          </a:xfrm>
          <a:prstGeom prst="rect">
            <a:avLst/>
          </a:prstGeom>
          <a:solidFill>
            <a:srgbClr val="FF3FA4"/>
          </a:solidFill>
          <a:ln/>
        </p:spPr>
      </p:sp>
      <p:sp>
        <p:nvSpPr>
          <p:cNvPr id="9" name="Text 7"/>
          <p:cNvSpPr/>
          <p:nvPr/>
        </p:nvSpPr>
        <p:spPr>
          <a:xfrm>
            <a:off x="4673483" y="4560112"/>
            <a:ext cx="2844729"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VERIFY</a:t>
            </a:r>
            <a:endParaRPr lang="en-US" sz="2800" dirty="0"/>
          </a:p>
        </p:txBody>
      </p:sp>
      <p:sp>
        <p:nvSpPr>
          <p:cNvPr id="10" name="Text 8"/>
          <p:cNvSpPr/>
          <p:nvPr/>
        </p:nvSpPr>
        <p:spPr>
          <a:xfrm>
            <a:off x="4673483" y="5017889"/>
            <a:ext cx="2844729" cy="61714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Check outputs that matter against trusted sources.</a:t>
            </a:r>
            <a:endParaRPr lang="en-US" sz="1800" dirty="0"/>
          </a:p>
        </p:txBody>
      </p:sp>
      <p:sp>
        <p:nvSpPr>
          <p:cNvPr id="11" name="Shape 9"/>
          <p:cNvSpPr/>
          <p:nvPr/>
        </p:nvSpPr>
        <p:spPr>
          <a:xfrm>
            <a:off x="8127797" y="4172148"/>
            <a:ext cx="3454314" cy="2076252"/>
          </a:xfrm>
          <a:prstGeom prst="roundRect">
            <a:avLst>
              <a:gd name="adj" fmla="val 11744"/>
            </a:avLst>
          </a:prstGeom>
          <a:solidFill>
            <a:srgbClr val="0C2637"/>
          </a:solidFill>
          <a:ln/>
        </p:spPr>
      </p:sp>
      <p:sp>
        <p:nvSpPr>
          <p:cNvPr id="12" name="Shape 10"/>
          <p:cNvSpPr/>
          <p:nvPr/>
        </p:nvSpPr>
        <p:spPr>
          <a:xfrm>
            <a:off x="8127797" y="4172148"/>
            <a:ext cx="3454314" cy="38100"/>
          </a:xfrm>
          <a:prstGeom prst="rect">
            <a:avLst/>
          </a:prstGeom>
          <a:solidFill>
            <a:srgbClr val="FF3FA4"/>
          </a:solidFill>
          <a:ln/>
        </p:spPr>
      </p:sp>
      <p:sp>
        <p:nvSpPr>
          <p:cNvPr id="13" name="Text 11"/>
          <p:cNvSpPr/>
          <p:nvPr/>
        </p:nvSpPr>
        <p:spPr>
          <a:xfrm>
            <a:off x="8432589" y="4560112"/>
            <a:ext cx="2844729" cy="337741"/>
          </a:xfrm>
          <a:prstGeom prst="rect">
            <a:avLst/>
          </a:prstGeom>
          <a:noFill/>
          <a:ln/>
        </p:spPr>
        <p:txBody>
          <a:bodyPr wrap="none" lIns="0" tIns="0" rIns="0" bIns="0" rtlCol="0" anchor="t"/>
          <a:lstStyle/>
          <a:p>
            <a:pPr algn="l" indent="0" marL="0">
              <a:lnSpc>
                <a:spcPct val="79000"/>
              </a:lnSpc>
              <a:buNone/>
            </a:pPr>
            <a:r>
              <a:rPr lang="en-US" sz="2800" dirty="0">
                <a:solidFill>
                  <a:srgbClr val="FFFFFF"/>
                </a:solidFill>
                <a:latin typeface="Big Shoulders ExtraBold" pitchFamily="34" charset="0"/>
                <a:ea typeface="Big Shoulders ExtraBold" pitchFamily="34" charset="-122"/>
                <a:cs typeface="Big Shoulders ExtraBold" pitchFamily="34" charset="0"/>
              </a:rPr>
              <a:t>KEEP LEARNING</a:t>
            </a:r>
            <a:endParaRPr lang="en-US" sz="2800" dirty="0"/>
          </a:p>
        </p:txBody>
      </p:sp>
      <p:sp>
        <p:nvSpPr>
          <p:cNvPr id="14" name="Text 12"/>
          <p:cNvSpPr/>
          <p:nvPr/>
        </p:nvSpPr>
        <p:spPr>
          <a:xfrm>
            <a:off x="8432589" y="5017889"/>
            <a:ext cx="2844729" cy="925711"/>
          </a:xfrm>
          <a:prstGeom prst="rect">
            <a:avLst/>
          </a:prstGeom>
          <a:noFill/>
          <a:ln/>
        </p:spPr>
        <p:txBody>
          <a:bodyPr wrap="square" lIns="0" tIns="0" rIns="0" bIns="0" rtlCol="0" anchor="t">
            <a:normAutofit/>
          </a:bodyPr>
          <a:lstStyle/>
          <a:p>
            <a:pPr algn="l" indent="0" marL="0">
              <a:lnSpc>
                <a:spcPct val="113000"/>
              </a:lnSpc>
              <a:buNone/>
            </a:pPr>
            <a:r>
              <a:rPr lang="en-US" sz="1800" dirty="0">
                <a:solidFill>
                  <a:srgbClr val="FFFFFF"/>
                </a:solidFill>
                <a:latin typeface="Onest" pitchFamily="34" charset="0"/>
                <a:ea typeface="Onest" pitchFamily="34" charset="-122"/>
                <a:cs typeface="Onest" pitchFamily="34" charset="0"/>
              </a:rPr>
              <a:t>Follow the research as capabilities and limits evolve.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2026-10-24T07:08:04Z</dcterms:created>
  <dcterms:modified xsi:type="dcterms:W3CDTF">2026-10-24T07:08:04Z</dcterms:modified>
</cp:coreProperties>
</file>